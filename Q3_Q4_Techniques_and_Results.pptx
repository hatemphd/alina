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questions 3 and 4: replacing ALINA's two hand-set inputs with machine-learning methods, and what the experiments showed.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downstream (warp, histogram, CIRCLEDAT traversal, unwarp) is ALINA's own code. Only the two manual inputs are replaced.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motivated the Q3 design: the problem is not finding the line, it is framing it so ALINA's column histogram can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Separating 'find the line' from 'build the ROI' is what made the comparison fair: all methods get the same Q2-informed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M2, M3 and M5 rows for vidd_2 and vidd_3 are in the report. On vidd_3 only Hough labels anything with default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M2 and M3 centred on vidd_1's other yellow line; the CBEM tracing covers only the left line in 5 of 7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uv run python -m experiments.q4_fast_ideas — about 3.5 minutes on the laptop CPU. Mask-only test; end-to-end scores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experiments/metric_comparison.py. The ALINA column reproduces `alina evaluate` (F1 95.17).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82296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Automating ALINA's Manual Steps
with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2B11B"/>
                </a:solidFill>
              </a:rPr>
              <a:t>Q3: choosing the region of interest  ·  Q4: learning the colour threshold
Techniques and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Assignment 4  ·  https://github.com/hatemphd/ALINA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problem: ALINA has two manual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ALINA labels taxiway centerlines with a </a:t>
            </a:r>
            <a:r>
              <a:rPr sz="1800" b="1">
                <a:solidFill>
                  <a:srgbClr val="222222"/>
                </a:solidFill>
              </a:rPr>
              <a:t>classical CV pipeline</a:t>
            </a:r>
            <a:r>
              <a:rPr sz="1800" b="0">
                <a:solidFill>
                  <a:srgbClr val="222222"/>
                </a:solidFill>
              </a:rPr>
              <a:t>; nothing in it learns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</a:t>
            </a:r>
            <a:r>
              <a:rPr sz="1800" b="1">
                <a:solidFill>
                  <a:srgbClr val="222222"/>
                </a:solidFill>
              </a:rPr>
              <a:t>Manual input 1 — where to look:</a:t>
            </a:r>
            <a:r>
              <a:rPr sz="1800" b="0">
                <a:solidFill>
                  <a:srgbClr val="222222"/>
                </a:solidFill>
              </a:rPr>
              <a:t> a person clicks a trapezoid ROI on the first frame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</a:t>
            </a:r>
            <a:r>
              <a:rPr sz="1800" b="1">
                <a:solidFill>
                  <a:srgbClr val="222222"/>
                </a:solidFill>
              </a:rPr>
              <a:t>Manual input 2 — what counts as paint:</a:t>
            </a:r>
            <a:r>
              <a:rPr sz="1800" b="0">
                <a:solidFill>
                  <a:srgbClr val="222222"/>
                </a:solidFill>
              </a:rPr>
              <a:t> a hand-set HSV range (0, 70, 170)–(255, 255, 255)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</a:t>
            </a:r>
            <a:r>
              <a:rPr sz="1800" b="1">
                <a:solidFill>
                  <a:srgbClr val="222222"/>
                </a:solidFill>
              </a:rPr>
              <a:t>Q3</a:t>
            </a:r>
            <a:r>
              <a:rPr sz="1800" b="0">
                <a:solidFill>
                  <a:srgbClr val="222222"/>
                </a:solidFill>
              </a:rPr>
              <a:t> replaces the ROI with ML; </a:t>
            </a:r>
            <a:r>
              <a:rPr sz="1800" b="1">
                <a:solidFill>
                  <a:srgbClr val="222222"/>
                </a:solidFill>
              </a:rPr>
              <a:t>Q4</a:t>
            </a:r>
            <a:r>
              <a:rPr sz="1800" b="0">
                <a:solidFill>
                  <a:srgbClr val="222222"/>
                </a:solidFill>
              </a:rPr>
              <a:t> replaces the colour threshold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ALINA's own code is </a:t>
            </a:r>
            <a:r>
              <a:rPr sz="1800" b="1">
                <a:solidFill>
                  <a:srgbClr val="222222"/>
                </a:solidFill>
              </a:rPr>
              <a:t>never modified</a:t>
            </a:r>
            <a:r>
              <a:rPr sz="1800" b="0">
                <a:solidFill>
                  <a:srgbClr val="222222"/>
                </a:solidFill>
              </a:rPr>
              <a:t>: each method plugs in where the manual step was</a:t>
            </a:r>
          </a:p>
        </p:txBody>
      </p:sp>
      <p:pic>
        <p:nvPicPr>
          <p:cNvPr id="7" name="Picture 6" descr="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41261"/>
            <a:ext cx="5394959" cy="34497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336779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ALINA pipeline (from the paper)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from Q2: the manual ROI is fragile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4498848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Video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Tight ROI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Medium ROI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Loose ROI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47 / 50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28 / 50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46 / 50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vidd_2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37 / 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38 / 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 / 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vidd_3 (curved)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 / 50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 / 50 (46 with loosened thresholds)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 / 50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999232"/>
            <a:ext cx="1106424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Frames labeled out of 50: ROI size alone swings a video between </a:t>
            </a:r>
            <a:r>
              <a:rPr sz="1600" b="1">
                <a:solidFill>
                  <a:srgbClr val="222222"/>
                </a:solidFill>
              </a:rPr>
              <a:t>47/50 and 0/50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Every ROI is warped to the same rectangle: a loose ROI makes the line </a:t>
            </a:r>
            <a:r>
              <a:rPr sz="1600" b="1">
                <a:solidFill>
                  <a:srgbClr val="222222"/>
                </a:solidFill>
              </a:rPr>
              <a:t>thin and slanted</a:t>
            </a:r>
            <a:r>
              <a:rPr sz="1600" b="0">
                <a:solidFill>
                  <a:srgbClr val="222222"/>
                </a:solidFill>
              </a:rPr>
              <a:t>, so no column passes the 200-pixel histogram test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Design rule carried into Q3:</a:t>
            </a:r>
            <a:r>
              <a:rPr sz="1600" b="0">
                <a:solidFill>
                  <a:srgbClr val="222222"/>
                </a:solidFill>
              </a:rPr>
              <a:t> a good ROI makes the line </a:t>
            </a:r>
            <a:r>
              <a:rPr sz="1600" b="1">
                <a:solidFill>
                  <a:srgbClr val="222222"/>
                </a:solidFill>
              </a:rPr>
              <a:t>big and vertical</a:t>
            </a:r>
            <a:r>
              <a:rPr sz="1600" b="0">
                <a:solidFill>
                  <a:srgbClr val="222222"/>
                </a:solidFill>
              </a:rPr>
              <a:t> in the bird's-eye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Q3: Choosing the ROI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2B11B"/>
                </a:solidFill>
              </a:rPr>
              <a:t>Five methods, one shared trapezoid builder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 design: every method only has to find the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Each method outputs a </a:t>
            </a:r>
            <a:r>
              <a:rPr sz="2000" b="1">
                <a:solidFill>
                  <a:srgbClr val="222222"/>
                </a:solidFill>
              </a:rPr>
              <a:t>line estimate</a:t>
            </a:r>
            <a:r>
              <a:rPr sz="2000" b="0">
                <a:solidFill>
                  <a:srgbClr val="222222"/>
                </a:solidFill>
              </a:rPr>
              <a:t> (slope + intercept); a shared </a:t>
            </a:r>
            <a:r>
              <a:rPr sz="2000" b="1">
                <a:solidFill>
                  <a:srgbClr val="222222"/>
                </a:solidFill>
              </a:rPr>
              <a:t>trapezoid builder</a:t>
            </a:r>
            <a:r>
              <a:rPr sz="2000" b="0">
                <a:solidFill>
                  <a:srgbClr val="222222"/>
                </a:solidFill>
              </a:rPr>
              <a:t> places the ROI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Line crosses top and bottom edges at the same fraction (0.55) → it comes out </a:t>
            </a:r>
            <a:r>
              <a:rPr sz="1800" b="1">
                <a:solidFill>
                  <a:srgbClr val="6B7280"/>
                </a:solidFill>
              </a:rPr>
              <a:t>exactly vertical</a:t>
            </a:r>
            <a:r>
              <a:rPr sz="1800" b="0">
                <a:solidFill>
                  <a:srgbClr val="6B7280"/>
                </a:solidFill>
              </a:rPr>
              <a:t> after the homography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</a:t>
            </a:r>
            <a:r>
              <a:rPr sz="1800" b="1">
                <a:solidFill>
                  <a:srgbClr val="6B7280"/>
                </a:solidFill>
              </a:rPr>
              <a:t>Shallow</a:t>
            </a:r>
            <a:r>
              <a:rPr sz="1800" b="0">
                <a:solidFill>
                  <a:srgbClr val="6B7280"/>
                </a:solidFill>
              </a:rPr>
              <a:t> ROI (≈ 6% of frame height) ending just above the aircraft nose → the line </a:t>
            </a:r>
            <a:r>
              <a:rPr sz="1800" b="1">
                <a:solidFill>
                  <a:srgbClr val="6B7280"/>
                </a:solidFill>
              </a:rPr>
              <a:t>fills</a:t>
            </a:r>
            <a:r>
              <a:rPr sz="1800" b="0">
                <a:solidFill>
                  <a:srgbClr val="6B7280"/>
                </a:solidFill>
              </a:rPr>
              <a:t> the warp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Sanity check + fallback:</a:t>
            </a:r>
            <a:r>
              <a:rPr sz="2000" b="0">
                <a:solidFill>
                  <a:srgbClr val="222222"/>
                </a:solidFill>
              </a:rPr>
              <a:t> rejects near-horizontal lines and collapsed trapezoids (one bad vidd_3 ROI once produced 280,665 'line' pixels)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Two modes:</a:t>
            </a:r>
            <a:r>
              <a:rPr sz="2000" b="0">
                <a:solidFill>
                  <a:srgbClr val="222222"/>
                </a:solidFill>
              </a:rPr>
              <a:t> Q3a proposes one ROI on frame 1 and reuses it; Q3b proposes a new ROI on every frame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Evaluation:</a:t>
            </a:r>
            <a:r>
              <a:rPr sz="2000" b="0">
                <a:solidFill>
                  <a:srgbClr val="222222"/>
                </a:solidFill>
              </a:rPr>
              <a:t> ALINA's recall / precision / F1 against CBEM ground truth (vidd_1: 7 frames, vidd_2: 10), frames labeled, ROI time, jitter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Q3: the five ROI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828800"/>
                <a:gridCol w="3840480"/>
                <a:gridCol w="32004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Idea in one line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 included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Hough transform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Classical CV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Yellow mask → Canny edges → line voting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Traditional lane finding; fast; the yardstick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K-means + RANSAC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Unsupervised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10 colour clusters in Lab; robust line fit through the yellow one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Can colour grouping alone find the paint?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GPT-5.5 corners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Foundation model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Ask the model for the 4 ROI corners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The 'just ask the model' approach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GPT-5.5 points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Foundation model + geometry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Model marks 5 centerline points + nose; code builds the ROI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Same model as M3, narrower job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Ridge regression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Supervised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32×18 thumbnail → line x at two rows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Simplest learned predictor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 techniques (1/2): classical and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M1  Hough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Plain English:</a:t>
            </a:r>
            <a:r>
              <a:rPr sz="1600" b="0">
                <a:solidFill>
                  <a:srgbClr val="222222"/>
                </a:solidFill>
              </a:rPr>
              <a:t> every edge pixel votes for the lines it could lie on; lines with many votes are real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Line written as ρ = x cos θ + y sin θ; peaks in the (ρ, θ) vote grid are lines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Probabilistic variant (HoughLinesP) returns segments; keep the steep one nearest the centre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+</a:t>
            </a:r>
            <a:r>
              <a:rPr sz="1600" b="0">
                <a:solidFill>
                  <a:srgbClr val="222222"/>
                </a:solidFill>
              </a:rPr>
              <a:t> no training, 0.04 s, easy to check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–</a:t>
            </a:r>
            <a:r>
              <a:rPr sz="1600" b="0">
                <a:solidFill>
                  <a:srgbClr val="222222"/>
                </a:solidFill>
              </a:rPr>
              <a:t> assumes straight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M2  K-means + RANSAC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Plain English:</a:t>
            </a:r>
            <a:r>
              <a:rPr sz="1600" b="0">
                <a:solidFill>
                  <a:srgbClr val="222222"/>
                </a:solidFill>
              </a:rPr>
              <a:t> sort pixels into 10 colour groups, call the most yellow one paint, then fit a line that ignores strays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K-means minimises within-cluster distance (k-means++ start)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RANSAC: fit to 2 random points, count inliers, keep the best, refit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+</a:t>
            </a:r>
            <a:r>
              <a:rPr sz="1600" b="0">
                <a:solidFill>
                  <a:srgbClr val="222222"/>
                </a:solidFill>
              </a:rPr>
              <a:t> no labels, no hand-set threshold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–</a:t>
            </a:r>
            <a:r>
              <a:rPr sz="1600" b="0">
                <a:solidFill>
                  <a:srgbClr val="222222"/>
                </a:solidFill>
              </a:rPr>
              <a:t> colour alone can't tell </a:t>
            </a:r>
            <a:r>
              <a:rPr sz="1600" b="1">
                <a:solidFill>
                  <a:srgbClr val="222222"/>
                </a:solidFill>
              </a:rPr>
              <a:t>which</a:t>
            </a:r>
            <a:r>
              <a:rPr sz="1600" b="0">
                <a:solidFill>
                  <a:srgbClr val="222222"/>
                </a:solidFill>
              </a:rPr>
              <a:t> yellow line the aircraft follows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 techniques (2/2): foundation model and 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M3 / M4  GPT-5.5 vision-language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Plain English:</a:t>
            </a:r>
            <a:r>
              <a:rPr sz="1600" b="0">
                <a:solidFill>
                  <a:srgbClr val="222222"/>
                </a:solidFill>
              </a:rPr>
              <a:t> show the frame with a labelled pixel grid, describe a good ROI, read back JSON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M3:</a:t>
            </a:r>
            <a:r>
              <a:rPr sz="1600" b="0">
                <a:solidFill>
                  <a:srgbClr val="222222"/>
                </a:solidFill>
              </a:rPr>
              <a:t> model gives the 4 corners (whole job)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M4:</a:t>
            </a:r>
            <a:r>
              <a:rPr sz="1600" b="0">
                <a:solidFill>
                  <a:srgbClr val="222222"/>
                </a:solidFill>
              </a:rPr>
              <a:t> model only points at the line + nose; code builds exact corners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Replies cached in results/q3/proposals/ → reproducible without new API calls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–</a:t>
            </a:r>
            <a:r>
              <a:rPr sz="1600" b="0">
                <a:solidFill>
                  <a:srgbClr val="222222"/>
                </a:solidFill>
              </a:rPr>
              <a:t> 7–37 s per call, costs money, varies between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M5  Ridge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Plain English:</a:t>
            </a:r>
            <a:r>
              <a:rPr sz="1600" b="0">
                <a:solidFill>
                  <a:srgbClr val="222222"/>
                </a:solidFill>
              </a:rPr>
              <a:t> a weighted sum of thumbnail pixels predicts where the line crosses two rows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Minimises ‖y − Xw‖² + α‖w‖² (L2 penalty keeps weights small)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Trained leave-one-video-out on the published labels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–</a:t>
            </a:r>
            <a:r>
              <a:rPr sz="1600" b="0">
                <a:solidFill>
                  <a:srgbClr val="222222"/>
                </a:solidFill>
              </a:rPr>
              <a:t> 576 inputs, 2 training videos: it learned </a:t>
            </a:r>
            <a:r>
              <a:rPr sz="1600" b="1">
                <a:solidFill>
                  <a:srgbClr val="222222"/>
                </a:solidFill>
              </a:rPr>
              <a:t>where lines usually are</a:t>
            </a:r>
            <a:r>
              <a:rPr sz="1600" b="0">
                <a:solidFill>
                  <a:srgbClr val="222222"/>
                </a:solidFill>
              </a:rPr>
              <a:t>, not how to find one (overfitting)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Q3a results: one ROI from the first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Video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Frames labeled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CBEM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Published-label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ROI time (s)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Manual (Q2 medium)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23.8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46.5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M1 Hough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70.0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62.3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0.05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M4 GPT points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64.2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32.5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27.9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M3 GPT corners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13.2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5.8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28.6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Manual (Q2 medium)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91.6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76.7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vidd_2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M4 GPT points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39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91.3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77.5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7.0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M1 Hough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39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83.2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68.7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0.03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Manual (Q2 medium)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vidd_3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M1 Hough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32.8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0.04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vidd_1: </a:t>
            </a:r>
            <a:r>
              <a:rPr sz="1600" b="1">
                <a:solidFill>
                  <a:srgbClr val="222222"/>
                </a:solidFill>
              </a:rPr>
              <a:t>23.8 → 70.0</a:t>
            </a:r>
            <a:r>
              <a:rPr sz="1600" b="0">
                <a:solidFill>
                  <a:srgbClr val="222222"/>
                </a:solidFill>
              </a:rPr>
              <a:t>  ·  vidd_2: matches manual (91.3 vs 91.6)  ·  vidd_3: </a:t>
            </a:r>
            <a:r>
              <a:rPr sz="1600" b="1">
                <a:solidFill>
                  <a:srgbClr val="222222"/>
                </a:solidFill>
              </a:rPr>
              <a:t>0 → 16</a:t>
            </a:r>
            <a:r>
              <a:rPr sz="1600" b="0">
                <a:solidFill>
                  <a:srgbClr val="222222"/>
                </a:solidFill>
              </a:rPr>
              <a:t> frames labeled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Q3: what the methods proposed on vidd_1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10</a:t>
            </a:r>
          </a:p>
        </p:txBody>
      </p:sp>
      <p:pic>
        <p:nvPicPr>
          <p:cNvPr id="6" name="Picture 5" descr="vidd_1_first_frame_ro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" y="1188720"/>
            <a:ext cx="902208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First-frame ROIs of all five methods on vidd_1 (results/q3/overlays/)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Q3b results: a new ROI on every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Video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Frames labeled (first → every)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CBEM F1 (first → every)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ROI jitter (px)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M1 Hough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45 → 47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70.0 → </a:t>
                      </a:r>
                      <a:r>
                        <a:rPr sz="1200" b="1">
                          <a:solidFill>
                            <a:srgbClr val="222222"/>
                          </a:solidFill>
                        </a:rPr>
                        <a:t>71.5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M2 K-means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20 → 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15.9 → 38.5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M3 GPT corners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20 → 47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13.2 → 25.1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M5 Ridge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43 → 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25.0 → 26.5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112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M1 Hough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39 → 37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83.2 → 82.8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M4 GPT points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39 → 40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91.3 → 91.0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M1 Hough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16 → 22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130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M2 K-means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 → 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vidd_3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M3 GPT corners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 → </a:t>
                      </a:r>
                      <a:r>
                        <a:rPr sz="1200" b="1">
                          <a:solidFill>
                            <a:srgbClr val="222222"/>
                          </a:solidFill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209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Helps</a:t>
            </a:r>
            <a:r>
              <a:rPr sz="1600" b="0">
                <a:solidFill>
                  <a:srgbClr val="222222"/>
                </a:solidFill>
              </a:rPr>
              <a:t> when the first ROI was wrong (M2, M3 recover) and on </a:t>
            </a:r>
            <a:r>
              <a:rPr sz="1600" b="1">
                <a:solidFill>
                  <a:srgbClr val="222222"/>
                </a:solidFill>
              </a:rPr>
              <a:t>curves</a:t>
            </a:r>
            <a:r>
              <a:rPr sz="1600" b="0">
                <a:solidFill>
                  <a:srgbClr val="222222"/>
                </a:solidFill>
              </a:rPr>
              <a:t> (vidd_3)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No gain</a:t>
            </a:r>
            <a:r>
              <a:rPr sz="1600" b="0">
                <a:solidFill>
                  <a:srgbClr val="222222"/>
                </a:solidFill>
              </a:rPr>
              <a:t> for a good ROI on a straight taxiway; </a:t>
            </a:r>
            <a:r>
              <a:rPr sz="1600" b="1">
                <a:solidFill>
                  <a:srgbClr val="222222"/>
                </a:solidFill>
              </a:rPr>
              <a:t>amplifies</a:t>
            </a:r>
            <a:r>
              <a:rPr sz="1600" b="0">
                <a:solidFill>
                  <a:srgbClr val="222222"/>
                </a:solidFill>
              </a:rPr>
              <a:t> a weak method (Ridge fell back on 35/50 frames)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For GPT: one paid call (15–36 s) per frame; GPT on curved vidd_3: M3 labels </a:t>
            </a:r>
            <a:r>
              <a:rPr sz="1600" b="1">
                <a:solidFill>
                  <a:srgbClr val="222222"/>
                </a:solidFill>
              </a:rPr>
              <a:t>26</a:t>
            </a:r>
            <a:r>
              <a:rPr sz="1600" b="0">
                <a:solidFill>
                  <a:srgbClr val="222222"/>
                </a:solidFill>
              </a:rPr>
              <a:t> frames, but agrees less with published labels than Hough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Q3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Automating the ROI works:</a:t>
            </a:r>
            <a:r>
              <a:rPr sz="2000" b="0">
                <a:solidFill>
                  <a:srgbClr val="222222"/>
                </a:solidFill>
              </a:rPr>
              <a:t> matches the hand-drawn ROI on vidd_2, triples vidd_1, and gets curved vidd_3 labeled at all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Geometry mattered more than the model:</a:t>
            </a:r>
            <a:r>
              <a:rPr sz="2000" b="0">
                <a:solidFill>
                  <a:srgbClr val="222222"/>
                </a:solidFill>
              </a:rPr>
              <a:t> the shared 'big and vertical' trapezoid turned Q2's failures into detections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Simple beat heavy:</a:t>
            </a:r>
            <a:r>
              <a:rPr sz="2000" b="0">
                <a:solidFill>
                  <a:srgbClr val="222222"/>
                </a:solidFill>
              </a:rPr>
              <a:t> cheap Hough lines beat GPT-5.5 overall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Give a big model a narrow job:</a:t>
            </a:r>
            <a:r>
              <a:rPr sz="2000" b="0">
                <a:solidFill>
                  <a:srgbClr val="222222"/>
                </a:solidFill>
              </a:rPr>
              <a:t> GPT pointing at the line 64.2 vs drawing the box 13.2 (vidd_1)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Per-frame ROI</a:t>
            </a:r>
            <a:r>
              <a:rPr sz="2000" b="0">
                <a:solidFill>
                  <a:srgbClr val="222222"/>
                </a:solidFill>
              </a:rPr>
              <a:t> is worth it for curves and scene changes, paired with a sanity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Q4: Learning the colour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2B11B"/>
                </a:solidFill>
              </a:rPr>
              <a:t>Five ML methods vs. ALINA's hand-set HSV rule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Q4 design: swap only the colour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label_frame = ALINA's process_image with the single cv2.inRange call replaced by </a:t>
            </a:r>
            <a:r>
              <a:rPr sz="2000" b="1">
                <a:solidFill>
                  <a:srgbClr val="222222"/>
                </a:solidFill>
              </a:rPr>
              <a:t>masks(warped) → (yellow, white)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With the baseline plugged in, it reproduces ALINA's output </a:t>
            </a:r>
            <a:r>
              <a:rPr sz="1800" b="1">
                <a:solidFill>
                  <a:srgbClr val="6B7280"/>
                </a:solidFill>
              </a:rPr>
              <a:t>pixel for pixel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Fixed ROI per video</a:t>
            </a:r>
            <a:r>
              <a:rPr sz="2000" b="0">
                <a:solidFill>
                  <a:srgbClr val="222222"/>
                </a:solidFill>
              </a:rPr>
              <a:t> (the Q3a Hough ROI), so only the colour step differs between methods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Training:</a:t>
            </a:r>
            <a:r>
              <a:rPr sz="2000" b="0">
                <a:solidFill>
                  <a:srgbClr val="222222"/>
                </a:solidFill>
              </a:rPr>
              <a:t> leave-one-video-out; yellow labels from the published ALINA output (weak labels)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White labels created here:</a:t>
            </a:r>
            <a:r>
              <a:rPr sz="2000" b="0">
                <a:solidFill>
                  <a:srgbClr val="222222"/>
                </a:solidFill>
              </a:rPr>
              <a:t> the dataset has none, so one vidd_1 white stripe was traced by hand, CBEM-style (3 train / 5 test frames)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Two scores:</a:t>
            </a:r>
            <a:r>
              <a:rPr sz="2000" b="0">
                <a:solidFill>
                  <a:srgbClr val="222222"/>
                </a:solidFill>
              </a:rPr>
              <a:t> end-to-end ALINA F1 vs CBEM, and </a:t>
            </a:r>
            <a:r>
              <a:rPr sz="2000" b="1">
                <a:solidFill>
                  <a:srgbClr val="222222"/>
                </a:solidFill>
              </a:rPr>
              <a:t>pixel-level mask IoU / F1</a:t>
            </a:r>
            <a:r>
              <a:rPr sz="2000" b="0">
                <a:solidFill>
                  <a:srgbClr val="222222"/>
                </a:solidFill>
              </a:rPr>
              <a:t> (yellow vs filled CBEM, white vs traced stripe) + false-white 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Q4: the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1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00"/>
                <a:gridCol w="2036879"/>
                <a:gridCol w="1948320"/>
                <a:gridCol w="3896640"/>
                <a:gridCol w="29224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Idea in one line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 included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Hand-set HSV range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Rule (baseline)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 ≥ 70 and V ≥ 170 = paint; no white rule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The step being replaced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Otsu per frame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Unsupervised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Best 2-group cut of S and V, recomputed every frame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Simplest data-driven threshold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Gaussian mixture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Unsupervised clustering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 colour blobs in Lab; name the yellow and white ones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Handles several materials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Decision tree (depth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Supervised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Learned yes/no questions = explicit inRange boxes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True drop-in replacement, readable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Logistic regression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Supervised, linear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Weighted colour score per class (slanted boundary)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Standard simple baseline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MLP (32-16) + context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Neural network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Pixel colour + 5×5 / 15×15 neighbourhood features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Sees shape as well as colour; stands in for a CNN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Q4 techniques (1/2): unsupervised, per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Otsu's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Plain English:</a:t>
            </a:r>
            <a:r>
              <a:rPr sz="1600" b="0">
                <a:solidFill>
                  <a:srgbClr val="222222"/>
                </a:solidFill>
              </a:rPr>
              <a:t> pick the cut that best splits a histogram into two tight groups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Maximises between-class variance ω₀ω₁(μ₀ − μ₁)²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+</a:t>
            </a:r>
            <a:r>
              <a:rPr sz="1600" b="0">
                <a:solidFill>
                  <a:srgbClr val="222222"/>
                </a:solidFill>
              </a:rPr>
              <a:t> no labels; adapts to every frame's lighting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–</a:t>
            </a:r>
            <a:r>
              <a:rPr sz="1600" b="0">
                <a:solidFill>
                  <a:srgbClr val="222222"/>
                </a:solidFill>
              </a:rPr>
              <a:t> always returns a cut, even with one material → </a:t>
            </a:r>
            <a:r>
              <a:rPr sz="1600" b="1">
                <a:solidFill>
                  <a:srgbClr val="222222"/>
                </a:solidFill>
              </a:rPr>
              <a:t>30% false white</a:t>
            </a:r>
            <a:r>
              <a:rPr sz="1600" b="0">
                <a:solidFill>
                  <a:srgbClr val="222222"/>
                </a:solidFill>
              </a:rPr>
              <a:t> on plain road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Gaussian mixture model (GMM)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Plain English:</a:t>
            </a:r>
            <a:r>
              <a:rPr sz="1600" b="0">
                <a:solidFill>
                  <a:srgbClr val="222222"/>
                </a:solidFill>
              </a:rPr>
              <a:t> assume a few colour blobs (road, grass, yellow, white, shadow); find them; name them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Fitted with Expectation-Maximisation; soft membership, tilted clusters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Works in Lab (b* axis separates yellow)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–</a:t>
            </a:r>
            <a:r>
              <a:rPr sz="1600" b="0">
                <a:solidFill>
                  <a:srgbClr val="222222"/>
                </a:solidFill>
              </a:rPr>
              <a:t> always finds its K groups; ≈ 1 s per frame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Q4 techniques (2/2): 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Decision tree  ·  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Tree:</a:t>
            </a:r>
            <a:r>
              <a:rPr sz="1600" b="0">
                <a:solidFill>
                  <a:srgbClr val="222222"/>
                </a:solidFill>
              </a:rPr>
              <a:t> flowchart of yes/no splits chosen to reduce Gini impurity; depth 3 keeps it readable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6B7280"/>
                </a:solidFill>
              </a:rPr>
              <a:t>      –  Each leaf is literally a </a:t>
            </a:r>
            <a:r>
              <a:rPr sz="1400" b="1">
                <a:solidFill>
                  <a:srgbClr val="6B7280"/>
                </a:solidFill>
              </a:rPr>
              <a:t>cv2.inRange box</a:t>
            </a:r>
            <a:r>
              <a:rPr sz="1400" b="0">
                <a:solidFill>
                  <a:srgbClr val="6B7280"/>
                </a:solidFill>
              </a:rPr>
              <a:t> → pastes into ALINA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LogReg:</a:t>
            </a:r>
            <a:r>
              <a:rPr sz="1600" b="0">
                <a:solidFill>
                  <a:srgbClr val="222222"/>
                </a:solidFill>
              </a:rPr>
              <a:t> softmax over weighted colour scores; balanced class weights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6B7280"/>
                </a:solidFill>
              </a:rPr>
              <a:t>      –  Slanted boundary, but still linear → misread sunlit yellow as white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Neural network (MLP) with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Plain English:</a:t>
            </a:r>
            <a:r>
              <a:rPr sz="1600" b="0">
                <a:solidFill>
                  <a:srgbClr val="222222"/>
                </a:solidFill>
              </a:rPr>
              <a:t> layers of simple units learn curved boundaries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20 inputs → 32 → 16 → 3 classes; ReLU, Adam, early stopping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Context features:</a:t>
            </a:r>
            <a:r>
              <a:rPr sz="1600" b="0">
                <a:solidFill>
                  <a:srgbClr val="222222"/>
                </a:solidFill>
              </a:rPr>
              <a:t> neighbourhood means (5×5, 15×15) + local brightness spread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6B7280"/>
                </a:solidFill>
              </a:rPr>
              <a:t>      –  Tells a </a:t>
            </a:r>
            <a:r>
              <a:rPr sz="1400" b="1">
                <a:solidFill>
                  <a:srgbClr val="6B7280"/>
                </a:solidFill>
              </a:rPr>
              <a:t>thin bright stripe</a:t>
            </a:r>
            <a:r>
              <a:rPr sz="1400" b="0">
                <a:solidFill>
                  <a:srgbClr val="6B7280"/>
                </a:solidFill>
              </a:rPr>
              <a:t> (paint) from a </a:t>
            </a:r>
            <a:r>
              <a:rPr sz="1400" b="1">
                <a:solidFill>
                  <a:srgbClr val="6B7280"/>
                </a:solidFill>
              </a:rPr>
              <a:t>large bright area</a:t>
            </a:r>
            <a:r>
              <a:rPr sz="1400" b="0">
                <a:solidFill>
                  <a:srgbClr val="6B7280"/>
                </a:solidFill>
              </a:rPr>
              <a:t> (aircraft nose)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CNN not possible: no PyTorch on this Intel Mac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Q4 results: mask quality (pixel level)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Yellow IoU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Yellow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White IoU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White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False white (% of ROI)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Baseline HSV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0.793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0.884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M1 Otsu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0.790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0.542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0.703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30.05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M2 GMM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0.686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0.814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0.871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0.931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1.63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M3 Tree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M4 LogReg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0.661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0.796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0.618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0.764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0.34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M5 MLP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0.831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0.907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0.967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0.983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0.01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51376"/>
            <a:ext cx="1106424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Learned methods make </a:t>
            </a:r>
            <a:r>
              <a:rPr sz="1600" b="1">
                <a:solidFill>
                  <a:srgbClr val="222222"/>
                </a:solidFill>
              </a:rPr>
              <a:t>better masks</a:t>
            </a:r>
            <a:r>
              <a:rPr sz="1600" b="0">
                <a:solidFill>
                  <a:srgbClr val="222222"/>
                </a:solidFill>
              </a:rPr>
              <a:t> and </a:t>
            </a:r>
            <a:r>
              <a:rPr sz="1600" b="1">
                <a:solidFill>
                  <a:srgbClr val="222222"/>
                </a:solidFill>
              </a:rPr>
              <a:t>find white paint</a:t>
            </a:r>
            <a:r>
              <a:rPr sz="1600" b="0">
                <a:solidFill>
                  <a:srgbClr val="222222"/>
                </a:solidFill>
              </a:rPr>
              <a:t> (baseline white F1 = 0)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The MLP is best on both colours, with almost no false white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Q4 results: end to end through ALINA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vidd_1 R / P /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vidd_2 R / P /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Frames labeled (v1 / v2 / v3)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Colour step (ms)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Baseline HSV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59.1 / 96.0 / </a:t>
                      </a:r>
                      <a:r>
                        <a:rPr sz="1300" b="1">
                          <a:solidFill>
                            <a:srgbClr val="222222"/>
                          </a:solidFill>
                        </a:rPr>
                        <a:t>70.0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78.3 / 88.9 / </a:t>
                      </a:r>
                      <a:r>
                        <a:rPr sz="1300" b="1">
                          <a:solidFill>
                            <a:srgbClr val="222222"/>
                          </a:solidFill>
                        </a:rPr>
                        <a:t>83.2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45 / 39 / 16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23–28</a:t>
                      </a:r>
                    </a:p>
                  </a:txBody>
                  <a:tcPr marL="54864" marR="54864" marT="27432" marB="27432">
                    <a:solidFill>
                      <a:srgbClr val="D9F2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M1 Otsu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52.6 / 99.4 / 66.2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78.3 / 83.7 / 80.8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43 / 29 /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58–83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M2 GMM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52.5 / 99.5 / 66.0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79.6 / 62.1 / 67.5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44 / 34 / 19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1,117–1,740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M3 Tree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54.2 / 99.2 / 67.6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81.0 / 41.3 / 54.6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45 / 48 / </a:t>
                      </a:r>
                      <a:r>
                        <a:rPr sz="1300" b="1">
                          <a:solidFill>
                            <a:srgbClr val="222222"/>
                          </a:solidFill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114–132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M4 LogReg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16.0 / 42.9 / 22.1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79.2 / 81.4 / 80.2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29 / 41 / </a:t>
                      </a:r>
                      <a:r>
                        <a:rPr sz="1300" b="1">
                          <a:solidFill>
                            <a:srgbClr val="222222"/>
                          </a:solidFill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298–347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M5 MLP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53.9 / 98.5 / 67.0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81.0 / 82.8 / 81.9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44 / 39 / 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1,380–1,612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51376"/>
            <a:ext cx="1106424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A better mask is not always a better label:</a:t>
            </a:r>
            <a:r>
              <a:rPr sz="1600" b="0">
                <a:solidFill>
                  <a:srgbClr val="222222"/>
                </a:solidFill>
              </a:rPr>
              <a:t> the hand-set yellow rule still wins end to end on vidd_1 / vidd_2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Learned thresholds help most where the rule struggles: dim, curved vidd_3 → </a:t>
            </a:r>
            <a:r>
              <a:rPr sz="1600" b="1">
                <a:solidFill>
                  <a:srgbClr val="222222"/>
                </a:solidFill>
              </a:rPr>
              <a:t>35 vs 16</a:t>
            </a:r>
            <a:r>
              <a:rPr sz="1600" b="0">
                <a:solidFill>
                  <a:srgbClr val="222222"/>
                </a:solidFill>
              </a:rPr>
              <a:t> frames labeled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a better mask can give a worse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ALINA keeps </a:t>
            </a:r>
            <a:r>
              <a:rPr sz="1700" b="1">
                <a:solidFill>
                  <a:srgbClr val="222222"/>
                </a:solidFill>
              </a:rPr>
              <a:t>everything connected</a:t>
            </a:r>
            <a:r>
              <a:rPr sz="1700" b="0">
                <a:solidFill>
                  <a:srgbClr val="222222"/>
                </a:solidFill>
              </a:rPr>
              <a:t> to the histogram peak (CIRCLEDAT)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The tree's yellow mask on vidd_2 is good (F1 0.899), but one learned box also covers the </a:t>
            </a:r>
            <a:r>
              <a:rPr sz="1700" b="1">
                <a:solidFill>
                  <a:srgbClr val="222222"/>
                </a:solidFill>
              </a:rPr>
              <a:t>cream aircraft nose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The nose touches the line → the traversal pulls it in → </a:t>
            </a:r>
            <a:r>
              <a:rPr sz="1700" b="1">
                <a:solidFill>
                  <a:srgbClr val="222222"/>
                </a:solidFill>
              </a:rPr>
              <a:t>precision falls to 41%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Logistic regression, trained on overcast videos, called the pale </a:t>
            </a:r>
            <a:r>
              <a:rPr sz="1700" b="1">
                <a:solidFill>
                  <a:srgbClr val="222222"/>
                </a:solidFill>
              </a:rPr>
              <a:t>sunlit</a:t>
            </a:r>
            <a:r>
              <a:rPr sz="1700" b="0">
                <a:solidFill>
                  <a:srgbClr val="222222"/>
                </a:solidFill>
              </a:rPr>
              <a:t> yellow of vidd_1 'white' (F1 22.1)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</a:t>
            </a:r>
            <a:r>
              <a:rPr sz="1700" b="1">
                <a:solidFill>
                  <a:srgbClr val="222222"/>
                </a:solidFill>
              </a:rPr>
              <a:t>Lesson:</a:t>
            </a:r>
            <a:r>
              <a:rPr sz="1700" b="0">
                <a:solidFill>
                  <a:srgbClr val="222222"/>
                </a:solidFill>
              </a:rPr>
              <a:t> one wrong blob touching the line costs more than many small errors</a:t>
            </a:r>
          </a:p>
        </p:txBody>
      </p:sp>
      <p:pic>
        <p:nvPicPr>
          <p:cNvPr id="7" name="Picture 6" descr="0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8845"/>
            <a:ext cx="5394959" cy="10946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159194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Decision tree on vidd_2: bird's-eye | yellow mask | white mask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models learned about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</a:t>
            </a:r>
            <a:r>
              <a:rPr sz="1700" b="1">
                <a:solidFill>
                  <a:srgbClr val="222222"/>
                </a:solidFill>
              </a:rPr>
              <a:t>Hue is useless</a:t>
            </a:r>
            <a:r>
              <a:rPr sz="1700" b="0">
                <a:solidFill>
                  <a:srgbClr val="222222"/>
                </a:solidFill>
              </a:rPr>
              <a:t> after ALINA's min-max normalisation: paint and pavement share hue ≈ 25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</a:t>
            </a:r>
            <a:r>
              <a:rPr sz="1700" b="1">
                <a:solidFill>
                  <a:srgbClr val="222222"/>
                </a:solidFill>
              </a:rPr>
              <a:t>Saturation does the work:</a:t>
            </a:r>
            <a:r>
              <a:rPr sz="1700" b="0">
                <a:solidFill>
                  <a:srgbClr val="222222"/>
                </a:solidFill>
              </a:rPr>
              <a:t> every learned rule converges on S ≈ 59–71 (hand-set: 70)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The tree </a:t>
            </a:r>
            <a:r>
              <a:rPr sz="1700" b="1">
                <a:solidFill>
                  <a:srgbClr val="222222"/>
                </a:solidFill>
              </a:rPr>
              <a:t>lowers the brightness cut</a:t>
            </a:r>
            <a:r>
              <a:rPr sz="1700" b="0">
                <a:solidFill>
                  <a:srgbClr val="222222"/>
                </a:solidFill>
              </a:rPr>
              <a:t> to V ≥ 115–140 (hand-set: 170)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It adds a </a:t>
            </a:r>
            <a:r>
              <a:rPr sz="1700" b="1">
                <a:solidFill>
                  <a:srgbClr val="222222"/>
                </a:solidFill>
              </a:rPr>
              <a:t>white rule</a:t>
            </a:r>
            <a:r>
              <a:rPr sz="1700" b="0">
                <a:solidFill>
                  <a:srgbClr val="222222"/>
                </a:solidFill>
              </a:rPr>
              <a:t> the baseline lacks: S ≤ ~66–70, V ≥ ~191–205</a:t>
            </a:r>
          </a:p>
        </p:txBody>
      </p:sp>
      <p:pic>
        <p:nvPicPr>
          <p:cNvPr id="7" name="Picture 6" descr="hsv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46832"/>
            <a:ext cx="5394959" cy="14386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331207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Normalised HSV histograms: paint vs pavement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Q4: the best masks (MLP, vidd_1)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22</a:t>
            </a:r>
          </a:p>
        </p:txBody>
      </p:sp>
      <p:pic>
        <p:nvPicPr>
          <p:cNvPr id="6" name="Picture 5" descr="0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12997"/>
            <a:ext cx="10972800" cy="2226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88508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MLP on vidd_1 frame 00002: bird's-eye | yellow mask | white mask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Results across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2B11B"/>
                </a:solidFill>
              </a:rPr>
              <a:t>Speed, best method per question, follow-up experiments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Speed vs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ROI proposal: &lt; 0.4 s classical / supervised, 7–37 s GPT-5.5 · Colour step: 25 ms to 1.7 s · ALINA's pure-Python CIRCLEDAT dominates (1–37 s per frame)</a:t>
            </a:r>
          </a:p>
        </p:txBody>
      </p:sp>
      <p:pic>
        <p:nvPicPr>
          <p:cNvPr id="7" name="Picture 6" descr="time_v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69164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Best method per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1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98"/>
                <a:gridCol w="4393406"/>
                <a:gridCol w="1581626"/>
                <a:gridCol w="1581626"/>
                <a:gridCol w="1757362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vidd_1 CBEM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vidd_2 CBEM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vidd_3 frames labeled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Q2 manual ROI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Medium ROI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23.8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91.6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Q3a first-frame ROI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M1 Hough (v1, v3), M4 GPT points (v2)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70.0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91.3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Q3b every-frame ROI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M1 Hough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71.5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82.8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Q4 colour step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MLP (masks), tree (explicit thresholds); hand-set rule best end to end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70.0 / 67.0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83.2 / 81.9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35</a:t>
                      </a:r>
                      <a:r>
                        <a:rPr sz="1400" b="0">
                          <a:solidFill>
                            <a:srgbClr val="222222"/>
                          </a:solidFill>
                        </a:rPr>
                        <a:t> (tree)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F1 by question and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26</a:t>
            </a:r>
          </a:p>
        </p:txBody>
      </p:sp>
      <p:pic>
        <p:nvPicPr>
          <p:cNvPr id="6" name="Picture 5" descr="f1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985" y="1188720"/>
            <a:ext cx="6458989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results/summary/f1_bars.png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Fast follow-up: five more colour ideas (mask quality)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Yellow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White 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False white %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Mask ms / frame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Train s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m0 baseline (re-run)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0.884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m5 MLP (re-run, best in Q4)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1009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0.902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0.984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1525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Gradient boosting (untuned)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0.546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3.65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2005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Gaussian naive Bayes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0.876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0.982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227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MLP + 3×3 opening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0.908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0.983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921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CLAHE + hand-set rule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0.886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35424"/>
            <a:ext cx="1106424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Same frames, ROI, training data and seed as Q4; re-runs match Q4 exactly. </a:t>
            </a:r>
            <a:r>
              <a:rPr sz="1600" b="1">
                <a:solidFill>
                  <a:srgbClr val="222222"/>
                </a:solidFill>
              </a:rPr>
              <a:t>None clearly beats the MLP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Limits are the </a:t>
            </a:r>
            <a:r>
              <a:rPr sz="1600" b="1">
                <a:solidFill>
                  <a:srgbClr val="222222"/>
                </a:solidFill>
              </a:rPr>
              <a:t>labels</a:t>
            </a:r>
            <a:r>
              <a:rPr sz="1600" b="0">
                <a:solidFill>
                  <a:srgbClr val="222222"/>
                </a:solidFill>
              </a:rPr>
              <a:t> (one white stripe) and the </a:t>
            </a:r>
            <a:r>
              <a:rPr sz="1600" b="1">
                <a:solidFill>
                  <a:srgbClr val="222222"/>
                </a:solidFill>
              </a:rPr>
              <a:t>ROI</a:t>
            </a:r>
            <a:r>
              <a:rPr sz="1600" b="0">
                <a:solidFill>
                  <a:srgbClr val="222222"/>
                </a:solidFill>
              </a:rPr>
              <a:t> (straight lines on curved vidd_3), not the classifier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 note on the metric: ALINA's F1 is generous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6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Metric on the paper's 120 validation frames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ALINA formula: sets of x values and sets of y values, averaged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222"/>
                          </a:solidFill>
                        </a:rPr>
                        <a:t>95.2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Exact pixel match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28.8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Pixel match within 3 px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87.4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999232"/>
            <a:ext cx="1106424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ALINA counts a predicted x as correct if </a:t>
            </a:r>
            <a:r>
              <a:rPr sz="1600" b="1">
                <a:solidFill>
                  <a:srgbClr val="222222"/>
                </a:solidFill>
              </a:rPr>
              <a:t>any</a:t>
            </a:r>
            <a:r>
              <a:rPr sz="1600" b="0">
                <a:solidFill>
                  <a:srgbClr val="222222"/>
                </a:solidFill>
              </a:rPr>
              <a:t> true pixel has that x, at any height; duplicates collapse; missing files are skipped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It measures </a:t>
            </a:r>
            <a:r>
              <a:rPr sz="1600" b="1">
                <a:solidFill>
                  <a:srgbClr val="222222"/>
                </a:solidFill>
              </a:rPr>
              <a:t>coverage</a:t>
            </a:r>
            <a:r>
              <a:rPr sz="1600" b="0">
                <a:solidFill>
                  <a:srgbClr val="222222"/>
                </a:solidFill>
              </a:rPr>
              <a:t> (right rows and columns), not exact placement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This project kept ALINA's metric for comparability, but scored empty frames as </a:t>
            </a:r>
            <a:r>
              <a:rPr sz="1600" b="1">
                <a:solidFill>
                  <a:srgbClr val="222222"/>
                </a:solidFill>
              </a:rPr>
              <a:t>0</a:t>
            </a:r>
            <a:r>
              <a:rPr sz="1600" b="0">
                <a:solidFill>
                  <a:srgbClr val="222222"/>
                </a:solidFill>
              </a:rPr>
              <a:t> and added pixel-level IoU / F1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Conclusions and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The ROI matters most, and simple ideas used well beat heavy models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Q3 (where to look):</a:t>
            </a:r>
            <a:r>
              <a:rPr sz="2000" b="0">
                <a:solidFill>
                  <a:srgbClr val="222222"/>
                </a:solidFill>
              </a:rPr>
              <a:t> the big gains — vidd_1 23.8 → 70.0, vidd_3 from no labels to 16–22 frames — from cheap Hough lines + Q2's geometry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Q4 (what counts as paint):</a:t>
            </a:r>
            <a:r>
              <a:rPr sz="2000" b="0">
                <a:solidFill>
                  <a:srgbClr val="222222"/>
                </a:solidFill>
              </a:rPr>
              <a:t> smaller, specific gains — white-line detection, better masks, more coverage on dim footage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Recommended setup: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Hough-based automatic ROI, re-estimated per frame on curvy taxiways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Hand-set yellow rule + the decision tree's white box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MLP for footage whose lighting differs from the training data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Only </a:t>
            </a:r>
            <a:r>
              <a:rPr sz="1600" b="1">
                <a:solidFill>
                  <a:srgbClr val="222222"/>
                </a:solidFill>
              </a:rPr>
              <a:t>17</a:t>
            </a:r>
            <a:r>
              <a:rPr sz="1600" b="0">
                <a:solidFill>
                  <a:srgbClr val="222222"/>
                </a:solidFill>
              </a:rPr>
              <a:t> ground-truth frames; </a:t>
            </a:r>
            <a:r>
              <a:rPr sz="1600" b="1">
                <a:solidFill>
                  <a:srgbClr val="222222"/>
                </a:solidFill>
              </a:rPr>
              <a:t>none</a:t>
            </a:r>
            <a:r>
              <a:rPr sz="1600" b="0">
                <a:solidFill>
                  <a:srgbClr val="222222"/>
                </a:solidFill>
              </a:rPr>
              <a:t> for vidd_3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Weak training labels (authors' ALINA output)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White labels from </a:t>
            </a:r>
            <a:r>
              <a:rPr sz="1600" b="1">
                <a:solidFill>
                  <a:srgbClr val="222222"/>
                </a:solidFill>
              </a:rPr>
              <a:t>one</a:t>
            </a:r>
            <a:r>
              <a:rPr sz="1600" b="0">
                <a:solidFill>
                  <a:srgbClr val="222222"/>
                </a:solidFill>
              </a:rPr>
              <a:t> stripe in one video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One run per method (GPT run-to-run variance not measured)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No CNN (no PyTorch); lenient ALINA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CBEM ground truth for vidd_3 and more white-paint frames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Train colour models with the aircraft nose as background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Shape check before CIRCLEDAT so blobs touching the line aren't traced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Curved (polynomial) RANSAC and ROI tracking across frames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Small CNN / U-Net once PyTorch is available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Automating ALINA with ML: Q3 and Q4   |  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Code and write-ups:</a:t>
            </a:r>
            <a:r>
              <a:rPr sz="1600" b="0">
                <a:solidFill>
                  <a:srgbClr val="222222"/>
                </a:solidFill>
              </a:rPr>
              <a:t> https://github.com/hatemphd/ALINA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Report:</a:t>
            </a:r>
            <a:r>
              <a:rPr sz="1600" b="0">
                <a:solidFill>
                  <a:srgbClr val="222222"/>
                </a:solidFill>
              </a:rPr>
              <a:t> assignment/REPORT.md  ·  </a:t>
            </a:r>
            <a:r>
              <a:rPr sz="1600" b="1">
                <a:solidFill>
                  <a:srgbClr val="222222"/>
                </a:solidFill>
              </a:rPr>
              <a:t>Summary:</a:t>
            </a:r>
            <a:r>
              <a:rPr sz="1600" b="0">
                <a:solidFill>
                  <a:srgbClr val="222222"/>
                </a:solidFill>
              </a:rPr>
              <a:t> assignment/Q3_Q4_Summary.md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Study guide:</a:t>
            </a:r>
            <a:r>
              <a:rPr sz="1600" b="0">
                <a:solidFill>
                  <a:srgbClr val="222222"/>
                </a:solidFill>
              </a:rPr>
              <a:t> assignment/ML_review_ideation.md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Full experiment data (Google Drive):</a:t>
            </a:r>
            <a:r>
              <a:rPr sz="1600" b="0">
                <a:solidFill>
                  <a:srgbClr val="222222"/>
                </a:solidFill>
              </a:rPr>
              <a:t> https://drive.google.com/file/d/1iIszTUjEguX2ebVMos0Et96VCIEvwA0y/view?usp=sharing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</a:t>
            </a:r>
            <a:r>
              <a:rPr sz="1600" b="1">
                <a:solidFill>
                  <a:srgbClr val="222222"/>
                </a:solidFill>
              </a:rPr>
              <a:t>Demo video:</a:t>
            </a:r>
            <a:r>
              <a:rPr sz="1600" b="0">
                <a:solidFill>
                  <a:srgbClr val="222222"/>
                </a:solidFill>
              </a:rPr>
              <a:t> results/demo/alina_best_method.mp4</a:t>
            </a:r>
          </a:p>
        </p:txBody>
      </p:sp>
      <p:pic>
        <p:nvPicPr>
          <p:cNvPr id="7" name="Picture 6" descr="alina_best_method_previe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48828"/>
            <a:ext cx="5394959" cy="303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129212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Demo: best pipeline vs manual 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