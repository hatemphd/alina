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46120"/>
            <a:ext cx="2011680" cy="82296"/>
          </a:xfrm>
          <a:prstGeom prst="rect">
            <a:avLst/>
          </a:prstGeom>
          <a:solidFill>
            <a:srgbClr val="F2B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17373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ALINA
Advanced Line Identification and Notation Algorithm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F2B11B"/>
                </a:solidFill>
              </a:rPr>
              <a:t>How it labels taxiway centerlines automatically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669280"/>
            <a:ext cx="10698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Khan, Ganeriwala, Bhattacharyya, Neogi, Muthalagu — CVPR 2024 Workshops (arXiv:2406.08775)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F2B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What is ALINA?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</a:rPr>
              <a:t>ALINA explained   |  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5760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</a:rPr>
              <a:t>•  An </a:t>
            </a:r>
            <a:r>
              <a:rPr sz="1800" b="1">
                <a:solidFill>
                  <a:srgbClr val="222222"/>
                </a:solidFill>
              </a:rPr>
              <a:t>automatic labeling tool</a:t>
            </a:r>
            <a:r>
              <a:rPr sz="1800" b="0">
                <a:solidFill>
                  <a:srgbClr val="222222"/>
                </a:solidFill>
              </a:rPr>
              <a:t> for airport taxiway video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</a:rPr>
              <a:t>•  Finds the </a:t>
            </a:r>
            <a:r>
              <a:rPr sz="1800" b="1">
                <a:solidFill>
                  <a:srgbClr val="222222"/>
                </a:solidFill>
              </a:rPr>
              <a:t>yellow centerline</a:t>
            </a:r>
            <a:r>
              <a:rPr sz="1800" b="0">
                <a:solidFill>
                  <a:srgbClr val="222222"/>
                </a:solidFill>
              </a:rPr>
              <a:t> in each frame and records exactly which pixels belong to it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</a:rPr>
              <a:t>•  </a:t>
            </a:r>
            <a:r>
              <a:rPr sz="1800" b="1">
                <a:solidFill>
                  <a:srgbClr val="222222"/>
                </a:solidFill>
              </a:rPr>
              <a:t>Not a neural network:</a:t>
            </a:r>
            <a:r>
              <a:rPr sz="1800" b="0">
                <a:solidFill>
                  <a:srgbClr val="222222"/>
                </a:solidFill>
              </a:rPr>
              <a:t> a classical computer-vision pipeline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</a:rPr>
              <a:t>•  Outputs per frame: an </a:t>
            </a:r>
            <a:r>
              <a:rPr sz="1800" b="1">
                <a:solidFill>
                  <a:srgbClr val="222222"/>
                </a:solidFill>
              </a:rPr>
              <a:t>annotated image</a:t>
            </a:r>
            <a:r>
              <a:rPr sz="1800" b="0">
                <a:solidFill>
                  <a:srgbClr val="222222"/>
                </a:solidFill>
              </a:rPr>
              <a:t> (line in red) and a </a:t>
            </a:r>
            <a:r>
              <a:rPr sz="1800" b="1">
                <a:solidFill>
                  <a:srgbClr val="222222"/>
                </a:solidFill>
              </a:rPr>
              <a:t>text file</a:t>
            </a:r>
            <a:r>
              <a:rPr sz="1800" b="0">
                <a:solidFill>
                  <a:srgbClr val="222222"/>
                </a:solidFill>
              </a:rPr>
              <a:t> of x y pixel coordinates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</a:rPr>
              <a:t>•  Purpose: produce the </a:t>
            </a:r>
            <a:r>
              <a:rPr sz="1800" b="1">
                <a:solidFill>
                  <a:srgbClr val="222222"/>
                </a:solidFill>
              </a:rPr>
              <a:t>ground truth</a:t>
            </a:r>
            <a:r>
              <a:rPr sz="1800" b="0">
                <a:solidFill>
                  <a:srgbClr val="222222"/>
                </a:solidFill>
              </a:rPr>
              <a:t> that supervised ML models (taxiway / lane detectors) need</a:t>
            </a:r>
          </a:p>
        </p:txBody>
      </p:sp>
      <p:pic>
        <p:nvPicPr>
          <p:cNvPr id="7" name="Picture 6" descr="000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2048828"/>
            <a:ext cx="5394959" cy="303466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92240" y="5129212"/>
            <a:ext cx="539495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6B7280"/>
                </a:solidFill>
              </a:rPr>
              <a:t>ALINA output on vidd_1: centerline in red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F2B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Why it matters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</a:rPr>
              <a:t>ALINA explained   |   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234440"/>
          <a:ext cx="1124712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23560"/>
                <a:gridCol w="5623560"/>
              </a:tblGrid>
              <a:tr h="384048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Problem</a:t>
                      </a:r>
                    </a:p>
                  </a:txBody>
                  <a:tcPr marL="54864" marR="54864" marT="27432" marB="27432">
                    <a:solidFill>
                      <a:srgbClr val="1424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How ALINA addresses it</a:t>
                      </a:r>
                    </a:p>
                  </a:txBody>
                  <a:tcPr marL="54864" marR="54864" marT="27432" marB="27432">
                    <a:solidFill>
                      <a:srgbClr val="14243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22222"/>
                          </a:solidFill>
                        </a:rPr>
                        <a:t>Manual labeling is slow, expensive and error-prone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22222"/>
                          </a:solidFill>
                        </a:rPr>
                        <a:t>Labels automatically at ≈ 19.65 fps (50 ms per frame on a CPU)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22222"/>
                          </a:solidFill>
                        </a:rPr>
                        <a:t>≈ 33% of aircraft accidents (2015–2022) happened during taxiing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22222"/>
                          </a:solidFill>
                        </a:rPr>
                        <a:t>Creates training data for pilot-assist and autonomous taxi guidance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22222"/>
                          </a:solidFill>
                        </a:rPr>
                        <a:t>Previous method (CDLEM) needed a new ROI at every scenario change: 120 ROIs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22222"/>
                          </a:solidFill>
                        </a:rPr>
                        <a:t>One ROI per video: 3 ROIs for the same 60,249 frames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22222"/>
                          </a:solidFill>
                        </a:rPr>
                        <a:t>CDLEM: 91.14% detection at 120 ms per frame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22222"/>
                          </a:solidFill>
                        </a:rPr>
                        <a:t>ALINA: </a:t>
                      </a:r>
                      <a:r>
                        <a:rPr sz="1500" b="1">
                          <a:solidFill>
                            <a:srgbClr val="222222"/>
                          </a:solidFill>
                        </a:rPr>
                        <a:t>98.45%</a:t>
                      </a:r>
                      <a:r>
                        <a:rPr sz="1500" b="0">
                          <a:solidFill>
                            <a:srgbClr val="222222"/>
                          </a:solidFill>
                        </a:rPr>
                        <a:t> detection at 50 ms per frame (≈ 2.4× faster)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3383280"/>
            <a:ext cx="110642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222222"/>
                </a:solidFill>
              </a:rPr>
              <a:t>•  Scale: </a:t>
            </a:r>
            <a:r>
              <a:rPr sz="1600" b="1">
                <a:solidFill>
                  <a:srgbClr val="222222"/>
                </a:solidFill>
              </a:rPr>
              <a:t>60,249 frames</a:t>
            </a:r>
            <a:r>
              <a:rPr sz="1600" b="0">
                <a:solidFill>
                  <a:srgbClr val="222222"/>
                </a:solidFill>
              </a:rPr>
              <a:t> from 3 videos of the AssistTaxi dataset (Melbourne MLB and Grant-Valkaria X59 airports), sunny and cloudy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F2B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The pipeline at a glance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</a:rPr>
              <a:t>ALINA explained   |   4</a:t>
            </a:r>
          </a:p>
        </p:txBody>
      </p:sp>
      <p:pic>
        <p:nvPicPr>
          <p:cNvPr id="6" name="Picture 5" descr="meth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58280" y="1188720"/>
            <a:ext cx="7936400" cy="5074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30936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6B7280"/>
                </a:solidFill>
              </a:rPr>
              <a:t>Method overview (from the paper)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F2B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Pipeline overview: six steps per frame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</a:rPr>
              <a:t>ALINA explained   |  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0">
                <a:solidFill>
                  <a:srgbClr val="222222"/>
                </a:solidFill>
              </a:rPr>
              <a:t>•  </a:t>
            </a:r>
            <a:r>
              <a:rPr sz="2000" b="1">
                <a:solidFill>
                  <a:srgbClr val="222222"/>
                </a:solidFill>
              </a:rPr>
              <a:t>1. ROI:</a:t>
            </a:r>
            <a:r>
              <a:rPr sz="2000" b="0">
                <a:solidFill>
                  <a:srgbClr val="222222"/>
                </a:solidFill>
              </a:rPr>
              <a:t> a trapezoid in front of the aircraft nose, clicked once on the first frame</a:t>
            </a:r>
          </a:p>
          <a:p>
            <a:pPr>
              <a:spcAft>
                <a:spcPts val="600"/>
              </a:spcAft>
            </a:pPr>
            <a:r>
              <a:rPr sz="2000" b="0">
                <a:solidFill>
                  <a:srgbClr val="222222"/>
                </a:solidFill>
              </a:rPr>
              <a:t>•  </a:t>
            </a:r>
            <a:r>
              <a:rPr sz="2000" b="1">
                <a:solidFill>
                  <a:srgbClr val="222222"/>
                </a:solidFill>
              </a:rPr>
              <a:t>2. Bird's-eye warp:</a:t>
            </a:r>
            <a:r>
              <a:rPr sz="2000" b="0">
                <a:solidFill>
                  <a:srgbClr val="222222"/>
                </a:solidFill>
              </a:rPr>
              <a:t> a homography stretches the trapezoid to a top-down rectangle</a:t>
            </a:r>
          </a:p>
          <a:p>
            <a:pPr>
              <a:spcAft>
                <a:spcPts val="600"/>
              </a:spcAft>
            </a:pPr>
            <a:r>
              <a:rPr sz="2000" b="0">
                <a:solidFill>
                  <a:srgbClr val="222222"/>
                </a:solidFill>
              </a:rPr>
              <a:t>•  </a:t>
            </a:r>
            <a:r>
              <a:rPr sz="2000" b="1">
                <a:solidFill>
                  <a:srgbClr val="222222"/>
                </a:solidFill>
              </a:rPr>
              <a:t>3. Colour:</a:t>
            </a:r>
            <a:r>
              <a:rPr sz="2000" b="0">
                <a:solidFill>
                  <a:srgbClr val="222222"/>
                </a:solidFill>
              </a:rPr>
              <a:t> HSV conversion, min-max normalisation, threshold → binary mask</a:t>
            </a:r>
          </a:p>
          <a:p>
            <a:pPr>
              <a:spcAft>
                <a:spcPts val="600"/>
              </a:spcAft>
            </a:pPr>
            <a:r>
              <a:rPr sz="2000" b="0">
                <a:solidFill>
                  <a:srgbClr val="222222"/>
                </a:solidFill>
              </a:rPr>
              <a:t>•  </a:t>
            </a:r>
            <a:r>
              <a:rPr sz="2000" b="1">
                <a:solidFill>
                  <a:srgbClr val="222222"/>
                </a:solidFill>
              </a:rPr>
              <a:t>4. Column histogram:</a:t>
            </a:r>
            <a:r>
              <a:rPr sz="2000" b="0">
                <a:solidFill>
                  <a:srgbClr val="222222"/>
                </a:solidFill>
              </a:rPr>
              <a:t> count mask pixels per column; the peak column is the line</a:t>
            </a:r>
          </a:p>
          <a:p>
            <a:pPr>
              <a:spcAft>
                <a:spcPts val="600"/>
              </a:spcAft>
            </a:pPr>
            <a:r>
              <a:rPr sz="2000" b="0">
                <a:solidFill>
                  <a:srgbClr val="222222"/>
                </a:solidFill>
              </a:rPr>
              <a:t>•  </a:t>
            </a:r>
            <a:r>
              <a:rPr sz="2000" b="1">
                <a:solidFill>
                  <a:srgbClr val="222222"/>
                </a:solidFill>
              </a:rPr>
              <a:t>5. CIRCLEDAT:</a:t>
            </a:r>
            <a:r>
              <a:rPr sz="2000" b="0">
                <a:solidFill>
                  <a:srgbClr val="222222"/>
                </a:solidFill>
              </a:rPr>
              <a:t> traverse all mask pixels connected to that peak</a:t>
            </a:r>
          </a:p>
          <a:p>
            <a:pPr>
              <a:spcAft>
                <a:spcPts val="600"/>
              </a:spcAft>
            </a:pPr>
            <a:r>
              <a:rPr sz="2000" b="0">
                <a:solidFill>
                  <a:srgbClr val="222222"/>
                </a:solidFill>
              </a:rPr>
              <a:t>•  </a:t>
            </a:r>
            <a:r>
              <a:rPr sz="2000" b="1">
                <a:solidFill>
                  <a:srgbClr val="222222"/>
                </a:solidFill>
              </a:rPr>
              <a:t>6. Unwarp:</a:t>
            </a:r>
            <a:r>
              <a:rPr sz="2000" b="0">
                <a:solidFill>
                  <a:srgbClr val="222222"/>
                </a:solidFill>
              </a:rPr>
              <a:t> map the pixels back to the camera view; draw them in red and save x y</a:t>
            </a:r>
          </a:p>
          <a:p>
            <a:pPr>
              <a:spcAft>
                <a:spcPts val="600"/>
              </a:spcAft>
            </a:pPr>
            <a:r>
              <a:rPr sz="2000" b="0">
                <a:solidFill>
                  <a:srgbClr val="222222"/>
                </a:solidFill>
              </a:rPr>
              <a:t>•  Each step </a:t>
            </a:r>
            <a:r>
              <a:rPr sz="2000" b="1">
                <a:solidFill>
                  <a:srgbClr val="222222"/>
                </a:solidFill>
              </a:rPr>
              <a:t>shrinks the problem</a:t>
            </a:r>
            <a:r>
              <a:rPr sz="2000" b="0">
                <a:solidFill>
                  <a:srgbClr val="222222"/>
                </a:solidFill>
              </a:rPr>
              <a:t> or removes one source of error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F2B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Step 1–2: ROI and bird's-eye warp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</a:rPr>
              <a:t>ALINA explained   |  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5760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>
                <a:solidFill>
                  <a:srgbClr val="222222"/>
                </a:solidFill>
              </a:rPr>
              <a:t>•  The centerline always appears in roughly the same area in front of the nose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222"/>
                </a:solidFill>
              </a:rPr>
              <a:t>•  The user clicks </a:t>
            </a:r>
            <a:r>
              <a:rPr sz="1700" b="1">
                <a:solidFill>
                  <a:srgbClr val="222222"/>
                </a:solidFill>
              </a:rPr>
              <a:t>4 points once</a:t>
            </a:r>
            <a:r>
              <a:rPr sz="1700" b="0">
                <a:solidFill>
                  <a:srgbClr val="222222"/>
                </a:solidFill>
              </a:rPr>
              <a:t> per video; reused for all frames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222"/>
                </a:solidFill>
              </a:rPr>
              <a:t>•  A </a:t>
            </a:r>
            <a:r>
              <a:rPr sz="1700" b="1">
                <a:solidFill>
                  <a:srgbClr val="222222"/>
                </a:solidFill>
              </a:rPr>
              <a:t>homography</a:t>
            </a:r>
            <a:r>
              <a:rPr sz="1700" b="0">
                <a:solidFill>
                  <a:srgbClr val="222222"/>
                </a:solidFill>
              </a:rPr>
              <a:t> (3×3 matrix from 4 source + 4 destination points) warps the trapezoid to the rectangle (50, 100)–(1200, 800)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222"/>
                </a:solidFill>
              </a:rPr>
              <a:t>•  In the bird's-eye view the line is a </a:t>
            </a:r>
            <a:r>
              <a:rPr sz="1700" b="1">
                <a:solidFill>
                  <a:srgbClr val="222222"/>
                </a:solidFill>
              </a:rPr>
              <a:t>roughly vertical stripe</a:t>
            </a:r>
            <a:r>
              <a:rPr sz="1700" b="0">
                <a:solidFill>
                  <a:srgbClr val="222222"/>
                </a:solidFill>
              </a:rPr>
              <a:t> of constant width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222"/>
                </a:solidFill>
              </a:rPr>
              <a:t>•  Excludes sky, grass and parked aircraft; cuts computation</a:t>
            </a:r>
          </a:p>
        </p:txBody>
      </p:sp>
      <p:pic>
        <p:nvPicPr>
          <p:cNvPr id="7" name="Picture 6" descr="birds_ey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924216"/>
            <a:ext cx="5394959" cy="328388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92240" y="5253824"/>
            <a:ext cx="539495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6B7280"/>
                </a:solidFill>
              </a:rPr>
              <a:t>Bird's-eye view of a medium ROI on vidd_2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F2B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Step 3: colour normalisation and threshold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</a:rPr>
              <a:t>ALINA explained   |  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5760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>
                <a:solidFill>
                  <a:srgbClr val="222222"/>
                </a:solidFill>
              </a:rPr>
              <a:t>•  Convert BGR → </a:t>
            </a:r>
            <a:r>
              <a:rPr sz="1700" b="1">
                <a:solidFill>
                  <a:srgbClr val="222222"/>
                </a:solidFill>
              </a:rPr>
              <a:t>HSV</a:t>
            </a:r>
            <a:r>
              <a:rPr sz="1700" b="0">
                <a:solidFill>
                  <a:srgbClr val="222222"/>
                </a:solidFill>
              </a:rPr>
              <a:t>: hue (which colour), saturation (how vivid), value (how bright)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222"/>
                </a:solidFill>
              </a:rPr>
              <a:t>•  </a:t>
            </a:r>
            <a:r>
              <a:rPr sz="1700" b="1">
                <a:solidFill>
                  <a:srgbClr val="222222"/>
                </a:solidFill>
              </a:rPr>
              <a:t>Min-max normalise</a:t>
            </a:r>
            <a:r>
              <a:rPr sz="1700" b="0">
                <a:solidFill>
                  <a:srgbClr val="222222"/>
                </a:solidFill>
              </a:rPr>
              <a:t> each channel to 0–255 so sunny and cloudy frames are comparable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222"/>
                </a:solidFill>
              </a:rPr>
              <a:t>•  Keep pixels in </a:t>
            </a:r>
            <a:r>
              <a:rPr sz="1700" b="1">
                <a:solidFill>
                  <a:srgbClr val="222222"/>
                </a:solidFill>
              </a:rPr>
              <a:t>(0, 70, 170)–(255, 255, 255)</a:t>
            </a:r>
            <a:r>
              <a:rPr sz="1700" b="0">
                <a:solidFill>
                  <a:srgbClr val="222222"/>
                </a:solidFill>
              </a:rPr>
              <a:t>: vivid and bright → white (255), else black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222"/>
                </a:solidFill>
              </a:rPr>
              <a:t>•  Bounds chosen from histograms of real line pixels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222"/>
                </a:solidFill>
              </a:rPr>
              <a:t>•  Why HSV: lighting changes mostly move V, so the paint signature is steadier than in RGB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222"/>
                </a:solidFill>
              </a:rPr>
              <a:t>•  There is </a:t>
            </a:r>
            <a:r>
              <a:rPr sz="1700" b="1">
                <a:solidFill>
                  <a:srgbClr val="222222"/>
                </a:solidFill>
              </a:rPr>
              <a:t>no rule for white</a:t>
            </a:r>
            <a:r>
              <a:rPr sz="1700" b="0">
                <a:solidFill>
                  <a:srgbClr val="222222"/>
                </a:solidFill>
              </a:rPr>
              <a:t> paint</a:t>
            </a:r>
          </a:p>
        </p:txBody>
      </p:sp>
      <p:pic>
        <p:nvPicPr>
          <p:cNvPr id="7" name="Picture 6" descr="mas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924216"/>
            <a:ext cx="5394959" cy="328388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92240" y="5253824"/>
            <a:ext cx="539495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6B7280"/>
                </a:solidFill>
              </a:rPr>
              <a:t>Binary mask after thresholding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F2B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Step 4: column histogram — is there a line, and where?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</a:rPr>
              <a:t>ALINA explained   |  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0">
                <a:solidFill>
                  <a:srgbClr val="222222"/>
                </a:solidFill>
              </a:rPr>
              <a:t>•  For every column of the mask, </a:t>
            </a:r>
            <a:r>
              <a:rPr sz="2000" b="1">
                <a:solidFill>
                  <a:srgbClr val="222222"/>
                </a:solidFill>
              </a:rPr>
              <a:t>count the white pixels</a:t>
            </a:r>
          </a:p>
          <a:p>
            <a:pPr>
              <a:spcAft>
                <a:spcPts val="600"/>
              </a:spcAft>
            </a:pPr>
            <a:r>
              <a:rPr sz="2000" b="0">
                <a:solidFill>
                  <a:srgbClr val="222222"/>
                </a:solidFill>
              </a:rPr>
              <a:t>•  A real line in the bird's-eye view is a tall column → a clear </a:t>
            </a:r>
            <a:r>
              <a:rPr sz="2000" b="1">
                <a:solidFill>
                  <a:srgbClr val="222222"/>
                </a:solidFill>
              </a:rPr>
              <a:t>peak</a:t>
            </a:r>
            <a:r>
              <a:rPr sz="2000" b="0">
                <a:solidFill>
                  <a:srgbClr val="222222"/>
                </a:solidFill>
              </a:rPr>
              <a:t>; noise makes only small bumps</a:t>
            </a:r>
          </a:p>
          <a:p>
            <a:pPr>
              <a:spcAft>
                <a:spcPts val="600"/>
              </a:spcAft>
            </a:pPr>
            <a:r>
              <a:rPr sz="2000" b="0">
                <a:solidFill>
                  <a:srgbClr val="222222"/>
                </a:solidFill>
              </a:rPr>
              <a:t>•  Line accepted if the peak column has </a:t>
            </a:r>
            <a:r>
              <a:rPr sz="2000" b="1">
                <a:solidFill>
                  <a:srgbClr val="222222"/>
                </a:solidFill>
              </a:rPr>
              <a:t>&gt; 200 white pixels</a:t>
            </a:r>
            <a:r>
              <a:rPr sz="2000" b="0">
                <a:solidFill>
                  <a:srgbClr val="222222"/>
                </a:solidFill>
              </a:rPr>
              <a:t> (min_white_pixels) and the peak exceeds </a:t>
            </a:r>
            <a:r>
              <a:rPr sz="2000" b="1">
                <a:solidFill>
                  <a:srgbClr val="222222"/>
                </a:solidFill>
              </a:rPr>
              <a:t>peak_pixel_threshold</a:t>
            </a:r>
          </a:p>
          <a:p>
            <a:pPr>
              <a:spcAft>
                <a:spcPts val="300"/>
              </a:spcAft>
            </a:pPr>
            <a:r>
              <a:rPr sz="1800" b="0">
                <a:solidFill>
                  <a:srgbClr val="6B7280"/>
                </a:solidFill>
              </a:rPr>
              <a:t>      –  The paper's ablation chose a peak threshold of 150 (0% false positives); the code default is 50</a:t>
            </a:r>
          </a:p>
          <a:p>
            <a:pPr>
              <a:spcAft>
                <a:spcPts val="600"/>
              </a:spcAft>
            </a:pPr>
            <a:r>
              <a:rPr sz="2000" b="0">
                <a:solidFill>
                  <a:srgbClr val="222222"/>
                </a:solidFill>
              </a:rPr>
              <a:t>•  Start point for the next step: the peak column at the </a:t>
            </a:r>
            <a:r>
              <a:rPr sz="2000" b="1">
                <a:solidFill>
                  <a:srgbClr val="222222"/>
                </a:solidFill>
              </a:rPr>
              <a:t>mean row</a:t>
            </a:r>
            <a:r>
              <a:rPr sz="2000" b="0">
                <a:solidFill>
                  <a:srgbClr val="222222"/>
                </a:solidFill>
              </a:rPr>
              <a:t> of its white pixels</a:t>
            </a:r>
          </a:p>
          <a:p>
            <a:pPr>
              <a:spcAft>
                <a:spcPts val="600"/>
              </a:spcAft>
            </a:pPr>
            <a:r>
              <a:rPr sz="2000" b="0">
                <a:solidFill>
                  <a:srgbClr val="222222"/>
                </a:solidFill>
              </a:rPr>
              <a:t>•  If no peak passes, the frame is saved with an </a:t>
            </a:r>
            <a:r>
              <a:rPr sz="2000" b="1">
                <a:solidFill>
                  <a:srgbClr val="222222"/>
                </a:solidFill>
              </a:rPr>
              <a:t>empty</a:t>
            </a:r>
            <a:r>
              <a:rPr sz="2000" b="0">
                <a:solidFill>
                  <a:srgbClr val="222222"/>
                </a:solidFill>
              </a:rPr>
              <a:t> label file</a:t>
            </a:r>
          </a:p>
          <a:p>
            <a:pPr>
              <a:spcAft>
                <a:spcPts val="600"/>
              </a:spcAft>
            </a:pPr>
            <a:r>
              <a:rPr sz="2000" b="0">
                <a:solidFill>
                  <a:srgbClr val="222222"/>
                </a:solidFill>
              </a:rPr>
              <a:t>•  Columns 0–300 of the mask are zeroed first (mask_ignore_left_columns)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F2B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Step 5: CIRCLEDAT — collect the whole 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</a:rPr>
              <a:t>ALINA explained   |  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0">
                <a:solidFill>
                  <a:srgbClr val="222222"/>
                </a:solidFill>
              </a:rPr>
              <a:t>•  </a:t>
            </a:r>
            <a:r>
              <a:rPr sz="2000" b="1">
                <a:solidFill>
                  <a:srgbClr val="222222"/>
                </a:solidFill>
              </a:rPr>
              <a:t>Circular Threshold Pixel Discovery and Traversal</a:t>
            </a:r>
            <a:r>
              <a:rPr sz="2000" b="0">
                <a:solidFill>
                  <a:srgbClr val="222222"/>
                </a:solidFill>
              </a:rPr>
              <a:t>, a new algorithm in the paper</a:t>
            </a:r>
          </a:p>
          <a:p>
            <a:pPr>
              <a:spcAft>
                <a:spcPts val="600"/>
              </a:spcAft>
            </a:pPr>
            <a:r>
              <a:rPr sz="2000" b="0">
                <a:solidFill>
                  <a:srgbClr val="222222"/>
                </a:solidFill>
              </a:rPr>
              <a:t>•  Depth-first search from the start pixel: from each white pixel, look at every pixel within </a:t>
            </a:r>
            <a:r>
              <a:rPr sz="2000" b="1">
                <a:solidFill>
                  <a:srgbClr val="222222"/>
                </a:solidFill>
              </a:rPr>
              <a:t>±15 px</a:t>
            </a:r>
            <a:r>
              <a:rPr sz="2000" b="0">
                <a:solidFill>
                  <a:srgbClr val="222222"/>
                </a:solidFill>
              </a:rPr>
              <a:t> (circular_threshold)</a:t>
            </a:r>
          </a:p>
          <a:p>
            <a:pPr>
              <a:spcAft>
                <a:spcPts val="600"/>
              </a:spcAft>
            </a:pPr>
            <a:r>
              <a:rPr sz="2000" b="0">
                <a:solidFill>
                  <a:srgbClr val="222222"/>
                </a:solidFill>
              </a:rPr>
              <a:t>•  Jumps small gaps, so it follows </a:t>
            </a:r>
            <a:r>
              <a:rPr sz="2000" b="1">
                <a:solidFill>
                  <a:srgbClr val="222222"/>
                </a:solidFill>
              </a:rPr>
              <a:t>curves and dashed lines</a:t>
            </a:r>
          </a:p>
          <a:p>
            <a:pPr>
              <a:spcAft>
                <a:spcPts val="600"/>
              </a:spcAft>
            </a:pPr>
            <a:r>
              <a:rPr sz="2000" b="0">
                <a:solidFill>
                  <a:srgbClr val="222222"/>
                </a:solidFill>
              </a:rPr>
              <a:t>•  Collects only pixels </a:t>
            </a:r>
            <a:r>
              <a:rPr sz="2000" b="1">
                <a:solidFill>
                  <a:srgbClr val="222222"/>
                </a:solidFill>
              </a:rPr>
              <a:t>connected</a:t>
            </a:r>
            <a:r>
              <a:rPr sz="2000" b="0">
                <a:solidFill>
                  <a:srgbClr val="222222"/>
                </a:solidFill>
              </a:rPr>
              <a:t> to the line → unconnected noise is left out</a:t>
            </a:r>
          </a:p>
          <a:p>
            <a:pPr>
              <a:spcAft>
                <a:spcPts val="600"/>
              </a:spcAft>
            </a:pPr>
            <a:r>
              <a:rPr sz="2000" b="0">
                <a:solidFill>
                  <a:srgbClr val="222222"/>
                </a:solidFill>
              </a:rPr>
              <a:t>•  Cost </a:t>
            </a:r>
            <a:r>
              <a:rPr sz="2000" b="1">
                <a:solidFill>
                  <a:srgbClr val="222222"/>
                </a:solidFill>
              </a:rPr>
              <a:t>O(k)</a:t>
            </a:r>
            <a:r>
              <a:rPr sz="2000" b="0">
                <a:solidFill>
                  <a:srgbClr val="222222"/>
                </a:solidFill>
              </a:rPr>
              <a:t> in the number of line pixels vs O(m×n) for a sliding window (paper: 3.33 ms vs 10.90 ms)</a:t>
            </a:r>
          </a:p>
          <a:p>
            <a:pPr>
              <a:spcAft>
                <a:spcPts val="600"/>
              </a:spcAft>
            </a:pPr>
            <a:r>
              <a:rPr sz="2000" b="0">
                <a:solidFill>
                  <a:srgbClr val="222222"/>
                </a:solidFill>
              </a:rPr>
              <a:t>•  </a:t>
            </a:r>
            <a:r>
              <a:rPr sz="2000" b="1">
                <a:solidFill>
                  <a:srgbClr val="222222"/>
                </a:solidFill>
              </a:rPr>
              <a:t>Side effect:</a:t>
            </a:r>
            <a:r>
              <a:rPr sz="2000" b="0">
                <a:solidFill>
                  <a:srgbClr val="222222"/>
                </a:solidFill>
              </a:rPr>
              <a:t> anything touching the line (e.g. a bright aircraft nose in the mask) is pulled in too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F2B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Step 6: unwarp and outputs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</a:rPr>
              <a:t>ALINA explained   |  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234440"/>
            <a:ext cx="5486400" cy="5074920"/>
          </a:xfrm>
          <a:prstGeom prst="roundRect">
            <a:avLst>
              <a:gd name="adj" fmla="val 4000"/>
            </a:avLst>
          </a:prstGeom>
          <a:solidFill>
            <a:srgbClr val="F3F4F6"/>
          </a:solidFill>
          <a:ln>
            <a:solidFill>
              <a:srgbClr val="F2B11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25880"/>
            <a:ext cx="50292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14243B"/>
                </a:solidFill>
              </a:rPr>
              <a:t>Unwarp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874519"/>
            <a:ext cx="5029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222222"/>
                </a:solidFill>
              </a:rPr>
              <a:t>•  The inverse homography M⁻¹ projects the collected pixels back to the camera view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22222"/>
                </a:solidFill>
              </a:rPr>
              <a:t>•  Pixels are painted red on the original frame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22222"/>
                </a:solidFill>
              </a:rPr>
              <a:t>•  Only the </a:t>
            </a:r>
            <a:r>
              <a:rPr sz="1600" b="1">
                <a:solidFill>
                  <a:srgbClr val="222222"/>
                </a:solidFill>
              </a:rPr>
              <a:t>single strongest</a:t>
            </a:r>
            <a:r>
              <a:rPr sz="1600" b="0">
                <a:solidFill>
                  <a:srgbClr val="222222"/>
                </a:solidFill>
              </a:rPr>
              <a:t> line is traced per frame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234440"/>
            <a:ext cx="5486400" cy="5074920"/>
          </a:xfrm>
          <a:prstGeom prst="roundRect">
            <a:avLst>
              <a:gd name="adj" fmla="val 4000"/>
            </a:avLst>
          </a:prstGeom>
          <a:solidFill>
            <a:srgbClr val="F3F4F6"/>
          </a:solidFill>
          <a:ln>
            <a:solidFill>
              <a:srgbClr val="F2B11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325880"/>
            <a:ext cx="50292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14243B"/>
                </a:solidFill>
              </a:rPr>
              <a:t>Outputs per frame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1874519"/>
            <a:ext cx="5029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222222"/>
                </a:solidFill>
              </a:rPr>
              <a:t>•  annotations/&lt;frame&gt;.jpg — red overlay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22222"/>
                </a:solidFill>
              </a:rPr>
              <a:t>•  textfiles/&lt;frame&gt;.txt — one 'x y' per line pixel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22222"/>
                </a:solidFill>
              </a:rPr>
              <a:t>•  Empty text file when no line was found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22222"/>
                </a:solidFill>
              </a:rPr>
              <a:t>•  timing log: labeled / no lines found, ms per frame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F2B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Input and output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</a:rPr>
              <a:t>ALINA explained   |   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5760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>
                <a:solidFill>
                  <a:srgbClr val="222222"/>
                </a:solidFill>
              </a:rPr>
              <a:t>•  </a:t>
            </a:r>
            <a:r>
              <a:rPr sz="1700" b="1">
                <a:solidFill>
                  <a:srgbClr val="222222"/>
                </a:solidFill>
              </a:rPr>
              <a:t>Input:</a:t>
            </a:r>
            <a:r>
              <a:rPr sz="1700" b="0">
                <a:solidFill>
                  <a:srgbClr val="222222"/>
                </a:solidFill>
              </a:rPr>
              <a:t> a folder of JPG frames per video + 4 ROI clicks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6B7280"/>
                </a:solidFill>
              </a:rPr>
              <a:t>      –  vidd_1 is 4K (resized to 1080p in this project); vidd_2 and vidd_3 are 1080p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222"/>
                </a:solidFill>
              </a:rPr>
              <a:t>•  </a:t>
            </a:r>
            <a:r>
              <a:rPr sz="1700" b="1">
                <a:solidFill>
                  <a:srgbClr val="222222"/>
                </a:solidFill>
              </a:rPr>
              <a:t>Output:</a:t>
            </a:r>
            <a:r>
              <a:rPr sz="1700" b="0">
                <a:solidFill>
                  <a:srgbClr val="222222"/>
                </a:solidFill>
              </a:rPr>
              <a:t> the same frame with the centerline in red, plus its coordinates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222"/>
                </a:solidFill>
              </a:rPr>
              <a:t>•  50 sample frames per video ship with the repo (data/Raw_Data, data/Labeled_Data)</a:t>
            </a:r>
          </a:p>
        </p:txBody>
      </p:sp>
      <p:pic>
        <p:nvPicPr>
          <p:cNvPr id="7" name="Picture 6" descr="000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2048828"/>
            <a:ext cx="5394959" cy="303466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92240" y="5129212"/>
            <a:ext cx="539495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6B7280"/>
                </a:solidFill>
              </a:rPr>
              <a:t>vidd_2 frame labeled by ALINA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F2B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The data in the repository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</a:rPr>
              <a:t>ALINA explained   |   12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234440"/>
          <a:ext cx="1124712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4686300"/>
                <a:gridCol w="2811780"/>
              </a:tblGrid>
              <a:tr h="38404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Folder</a:t>
                      </a:r>
                    </a:p>
                  </a:txBody>
                  <a:tcPr marL="54864" marR="54864" marT="27432" marB="27432">
                    <a:solidFill>
                      <a:srgbClr val="1424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Contents</a:t>
                      </a:r>
                    </a:p>
                  </a:txBody>
                  <a:tcPr marL="54864" marR="54864" marT="27432" marB="27432">
                    <a:solidFill>
                      <a:srgbClr val="1424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Role</a:t>
                      </a:r>
                    </a:p>
                  </a:txBody>
                  <a:tcPr marL="54864" marR="54864" marT="27432" marB="27432">
                    <a:solidFill>
                      <a:srgbClr val="14243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222"/>
                          </a:solidFill>
                        </a:rPr>
                        <a:t>data/Raw_Data/vidd_1..3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222"/>
                          </a:solidFill>
                        </a:rPr>
                        <a:t>50 raw frames per video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222"/>
                          </a:solidFill>
                        </a:rPr>
                        <a:t>Input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222"/>
                          </a:solidFill>
                        </a:rPr>
                        <a:t>data/Labeled_Data/vidd_1..3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222"/>
                          </a:solidFill>
                        </a:rPr>
                        <a:t>annotations/ (red overlays), textfiles/ (x y)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222"/>
                          </a:solidFill>
                        </a:rPr>
                        <a:t>Authors' sample output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222"/>
                          </a:solidFill>
                        </a:rPr>
                        <a:t>data/gt_alina_labels/canny_images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222"/>
                          </a:solidFill>
                        </a:rPr>
                        <a:t>CBEM edge-map images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222"/>
                          </a:solidFill>
                        </a:rPr>
                        <a:t>Visual reference for ground truth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222"/>
                          </a:solidFill>
                        </a:rPr>
                        <a:t>data/gt_alina_labels/canny_textfiles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222"/>
                          </a:solidFill>
                        </a:rPr>
                        <a:t>CBEM ground-truth coordinates (120 frames)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222"/>
                          </a:solidFill>
                        </a:rPr>
                        <a:t>Evaluation truth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222"/>
                          </a:solidFill>
                        </a:rPr>
                        <a:t>data/gt_alina_labels/ALINA_textfiles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222"/>
                          </a:solidFill>
                        </a:rPr>
                        <a:t>ALINA output on the same 120 frames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222"/>
                          </a:solidFill>
                        </a:rPr>
                        <a:t>What gets evaluated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3767328"/>
            <a:ext cx="11064240" cy="2542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222222"/>
                </a:solidFill>
              </a:rPr>
              <a:t>•  Only </a:t>
            </a:r>
            <a:r>
              <a:rPr sz="1600" b="1">
                <a:solidFill>
                  <a:srgbClr val="222222"/>
                </a:solidFill>
              </a:rPr>
              <a:t>17</a:t>
            </a:r>
            <a:r>
              <a:rPr sz="1600" b="0">
                <a:solidFill>
                  <a:srgbClr val="222222"/>
                </a:solidFill>
              </a:rPr>
              <a:t> of the 120 ground-truth frames have their raw image in the repo (vidd_1: 7, vidd_2: 10, vidd_3: 0)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F2B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Ground truth: CBEM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</a:rPr>
              <a:t>ALINA explained   |  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5760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>
                <a:solidFill>
                  <a:srgbClr val="222222"/>
                </a:solidFill>
              </a:rPr>
              <a:t>•  </a:t>
            </a:r>
            <a:r>
              <a:rPr sz="1700" b="1">
                <a:solidFill>
                  <a:srgbClr val="222222"/>
                </a:solidFill>
              </a:rPr>
              <a:t>Canny-Based Edge Marking:</a:t>
            </a:r>
            <a:r>
              <a:rPr sz="1700" b="0">
                <a:solidFill>
                  <a:srgbClr val="222222"/>
                </a:solidFill>
              </a:rPr>
              <a:t> how the authors made ground truth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222"/>
                </a:solidFill>
              </a:rPr>
              <a:t>•  120 frames picked at </a:t>
            </a:r>
            <a:r>
              <a:rPr sz="1700" b="1">
                <a:solidFill>
                  <a:srgbClr val="222222"/>
                </a:solidFill>
              </a:rPr>
              <a:t>scenario changes</a:t>
            </a:r>
            <a:r>
              <a:rPr sz="1700" b="0">
                <a:solidFill>
                  <a:srgbClr val="222222"/>
                </a:solidFill>
              </a:rPr>
              <a:t> (not at random), 40 per video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222"/>
                </a:solidFill>
              </a:rPr>
              <a:t>•  A person outlines the marking; </a:t>
            </a:r>
            <a:r>
              <a:rPr sz="1700" b="1">
                <a:solidFill>
                  <a:srgbClr val="222222"/>
                </a:solidFill>
              </a:rPr>
              <a:t>Canny edge detection</a:t>
            </a:r>
            <a:r>
              <a:rPr sz="1700" b="0">
                <a:solidFill>
                  <a:srgbClr val="222222"/>
                </a:solidFill>
              </a:rPr>
              <a:t> inside the outline gives the edge pixels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222"/>
                </a:solidFill>
              </a:rPr>
              <a:t>•  So the truth marks the </a:t>
            </a:r>
            <a:r>
              <a:rPr sz="1700" b="1">
                <a:solidFill>
                  <a:srgbClr val="222222"/>
                </a:solidFill>
              </a:rPr>
              <a:t>edges</a:t>
            </a:r>
            <a:r>
              <a:rPr sz="1700" b="0">
                <a:solidFill>
                  <a:srgbClr val="222222"/>
                </a:solidFill>
              </a:rPr>
              <a:t> of the paint, not the filled paint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222"/>
                </a:solidFill>
              </a:rPr>
              <a:t>•  Dataset quirk: several CBEM files are byte-identical duplicates</a:t>
            </a:r>
          </a:p>
        </p:txBody>
      </p:sp>
      <p:pic>
        <p:nvPicPr>
          <p:cNvPr id="7" name="Picture 6" descr="00002_cann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2048828"/>
            <a:ext cx="5394959" cy="303466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92240" y="5129212"/>
            <a:ext cx="539495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6B7280"/>
                </a:solidFill>
              </a:rPr>
              <a:t>CBEM edge image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F2B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How ALINA is evaluated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</a:rPr>
              <a:t>ALINA explained   |   14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234440"/>
          <a:ext cx="1124712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872984"/>
                <a:gridCol w="3374136"/>
              </a:tblGrid>
              <a:tr h="384048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Metric on the 120 validation frames</a:t>
                      </a:r>
                    </a:p>
                  </a:txBody>
                  <a:tcPr marL="54864" marR="54864" marT="27432" marB="27432">
                    <a:solidFill>
                      <a:srgbClr val="1424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Value</a:t>
                      </a:r>
                    </a:p>
                  </a:txBody>
                  <a:tcPr marL="54864" marR="54864" marT="27432" marB="27432">
                    <a:solidFill>
                      <a:srgbClr val="14243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22222"/>
                          </a:solidFill>
                        </a:rPr>
                        <a:t>Recall (detection rate) — paper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22222"/>
                          </a:solidFill>
                        </a:rPr>
                        <a:t>98.45%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22222"/>
                          </a:solidFill>
                        </a:rPr>
                        <a:t>Recall / precision / F1 — reproduced with alina evaluate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22222"/>
                          </a:solidFill>
                        </a:rPr>
                        <a:t>98.44% / 92.29% / </a:t>
                      </a:r>
                      <a:r>
                        <a:rPr sz="1500" b="1">
                          <a:solidFill>
                            <a:srgbClr val="222222"/>
                          </a:solidFill>
                        </a:rPr>
                        <a:t>95.17%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22222"/>
                          </a:solidFill>
                        </a:rPr>
                        <a:t>Same frames, exact pixel match F1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22222"/>
                          </a:solidFill>
                        </a:rPr>
                        <a:t>28.8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22222"/>
                          </a:solidFill>
                        </a:rPr>
                        <a:t>Same frames, pixel match within 3 px F1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22222"/>
                          </a:solidFill>
                        </a:rPr>
                        <a:t>87.4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3383280"/>
            <a:ext cx="110642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222222"/>
                </a:solidFill>
              </a:rPr>
              <a:t>•  ALINA compares the </a:t>
            </a:r>
            <a:r>
              <a:rPr sz="1600" b="1">
                <a:solidFill>
                  <a:srgbClr val="222222"/>
                </a:solidFill>
              </a:rPr>
              <a:t>set of x values</a:t>
            </a:r>
            <a:r>
              <a:rPr sz="1600" b="0">
                <a:solidFill>
                  <a:srgbClr val="222222"/>
                </a:solidFill>
              </a:rPr>
              <a:t> and the </a:t>
            </a:r>
            <a:r>
              <a:rPr sz="1600" b="1">
                <a:solidFill>
                  <a:srgbClr val="222222"/>
                </a:solidFill>
              </a:rPr>
              <a:t>set of y values</a:t>
            </a:r>
            <a:r>
              <a:rPr sz="1600" b="0">
                <a:solidFill>
                  <a:srgbClr val="222222"/>
                </a:solidFill>
              </a:rPr>
              <a:t> separately, then averages: a predicted x counts if any true pixel has it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22222"/>
                </a:solidFill>
              </a:rPr>
              <a:t>•  Per frame, then averaged over frames; frames without an output file are skipped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22222"/>
                </a:solidFill>
              </a:rPr>
              <a:t>•  The authors prioritise </a:t>
            </a:r>
            <a:r>
              <a:rPr sz="1600" b="1">
                <a:solidFill>
                  <a:srgbClr val="222222"/>
                </a:solidFill>
              </a:rPr>
              <a:t>recall</a:t>
            </a:r>
            <a:r>
              <a:rPr sz="1600" b="0">
                <a:solidFill>
                  <a:srgbClr val="222222"/>
                </a:solidFill>
              </a:rPr>
              <a:t>: for taxiway safety a missed marking is worse than an extra pixel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F2B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Key parameters (alina/config.py)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</a:rPr>
              <a:t>ALINA explained   |   15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234440"/>
          <a:ext cx="11247120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80410"/>
                <a:gridCol w="3280410"/>
                <a:gridCol w="4686300"/>
              </a:tblGrid>
              <a:tr h="38404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 marL="54864" marR="54864" marT="27432" marB="27432">
                    <a:solidFill>
                      <a:srgbClr val="1424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Default</a:t>
                      </a:r>
                    </a:p>
                  </a:txBody>
                  <a:tcPr marL="54864" marR="54864" marT="27432" marB="27432">
                    <a:solidFill>
                      <a:srgbClr val="1424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Meaning</a:t>
                      </a:r>
                    </a:p>
                  </a:txBody>
                  <a:tcPr marL="54864" marR="54864" marT="27432" marB="27432">
                    <a:solidFill>
                      <a:srgbClr val="14243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222"/>
                          </a:solidFill>
                        </a:rPr>
                        <a:t>yellow_lower / yellow_upper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222"/>
                          </a:solidFill>
                        </a:rPr>
                        <a:t>(0, 70, 170) / (255, 255, 255)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222"/>
                          </a:solidFill>
                        </a:rPr>
                        <a:t>Normalised HSV paint range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222"/>
                          </a:solidFill>
                        </a:rPr>
                        <a:t>min_white_pixels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222"/>
                          </a:solidFill>
                        </a:rPr>
                        <a:t>200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222"/>
                          </a:solidFill>
                        </a:rPr>
                        <a:t>White pixels needed in the peak column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222"/>
                          </a:solidFill>
                        </a:rPr>
                        <a:t>peak_pixel_threshold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222"/>
                          </a:solidFill>
                        </a:rPr>
                        <a:t>50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222"/>
                          </a:solidFill>
                        </a:rPr>
                        <a:t>Minimum histogram peak (paper ablation: 150)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222"/>
                          </a:solidFill>
                        </a:rPr>
                        <a:t>circular_threshold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222"/>
                          </a:solidFill>
                        </a:rPr>
                        <a:t>15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222"/>
                          </a:solidFill>
                        </a:rPr>
                        <a:t>CIRCLEDAT search radius (px)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222"/>
                          </a:solidFill>
                        </a:rPr>
                        <a:t>mask_ignore_left_columns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222"/>
                          </a:solidFill>
                        </a:rPr>
                        <a:t>300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222"/>
                          </a:solidFill>
                        </a:rPr>
                        <a:t>Mask columns zeroed before the histogram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222"/>
                          </a:solidFill>
                        </a:rPr>
                        <a:t>ROI destination rectangle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222"/>
                          </a:solidFill>
                        </a:rPr>
                        <a:t>(50, 100)–(1200, 800)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222"/>
                          </a:solidFill>
                        </a:rPr>
                        <a:t>Bird's-eye target of the homography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F2B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Where the time goes (paper, ms per frame)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</a:rPr>
              <a:t>ALINA explained   |   16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234440"/>
          <a:ext cx="1124712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23560"/>
                <a:gridCol w="5623560"/>
              </a:tblGrid>
              <a:tr h="384048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Step</a:t>
                      </a:r>
                    </a:p>
                  </a:txBody>
                  <a:tcPr marL="54864" marR="54864" marT="27432" marB="27432">
                    <a:solidFill>
                      <a:srgbClr val="1424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Time (ms)</a:t>
                      </a:r>
                    </a:p>
                  </a:txBody>
                  <a:tcPr marL="54864" marR="54864" marT="27432" marB="27432">
                    <a:solidFill>
                      <a:srgbClr val="14243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22222"/>
                          </a:solidFill>
                        </a:rPr>
                        <a:t>Perspective warp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22222"/>
                          </a:solidFill>
                        </a:rPr>
                        <a:t>4.41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22222"/>
                          </a:solidFill>
                        </a:rPr>
                        <a:t>HSV normalisation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22222"/>
                          </a:solidFill>
                        </a:rPr>
                        <a:t>5.91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22222"/>
                          </a:solidFill>
                        </a:rPr>
                        <a:t>Thresholding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22222"/>
                          </a:solidFill>
                        </a:rPr>
                        <a:t>1.05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222222"/>
                          </a:solidFill>
                        </a:rPr>
                        <a:t>Histogram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222222"/>
                          </a:solidFill>
                        </a:rPr>
                        <a:t>28.71</a:t>
                      </a:r>
                      <a:r>
                        <a:rPr sz="1500" b="0">
                          <a:solidFill>
                            <a:srgbClr val="222222"/>
                          </a:solidFill>
                        </a:rPr>
                        <a:t> (bottleneck)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22222"/>
                          </a:solidFill>
                        </a:rPr>
                        <a:t>CIRCLEDAT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22222"/>
                          </a:solidFill>
                        </a:rPr>
                        <a:t>3.33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22222"/>
                          </a:solidFill>
                        </a:rPr>
                        <a:t>Remap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22222"/>
                          </a:solidFill>
                        </a:rPr>
                        <a:t>6.68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222222"/>
                          </a:solidFill>
                        </a:rPr>
                        <a:t>Total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222222"/>
                          </a:solidFill>
                        </a:rPr>
                        <a:t>50.09</a:t>
                      </a:r>
                      <a:r>
                        <a:rPr sz="1500" b="0">
                          <a:solidFill>
                            <a:srgbClr val="222222"/>
                          </a:solidFill>
                        </a:rPr>
                        <a:t> (≈ 19.65 fps)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4535424"/>
            <a:ext cx="11064240" cy="1773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222222"/>
                </a:solidFill>
              </a:rPr>
              <a:t>•  In this project's Python version, CIRCLEDAT was far slower (1–37 s per frame) because its cost grows with the connected mask area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F2B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Running ALINA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</a:rPr>
              <a:t>ALINA explained   |   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</a:rPr>
              <a:t>•  Environment: uv sync  (Python 3.12, OpenCV, NumPy — pinned in uv.lock)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</a:rPr>
              <a:t>•  </a:t>
            </a:r>
            <a:r>
              <a:rPr sz="1800" b="1">
                <a:solidFill>
                  <a:srgbClr val="222222"/>
                </a:solidFill>
              </a:rPr>
              <a:t>Label a folder of frames</a:t>
            </a:r>
            <a:r>
              <a:rPr sz="1800" b="0">
                <a:solidFill>
                  <a:srgbClr val="222222"/>
                </a:solidFill>
              </a:rPr>
              <a:t> (opens a window to click the ROI):</a:t>
            </a:r>
          </a:p>
          <a:p>
            <a:pPr>
              <a:spcAft>
                <a:spcPts val="300"/>
              </a:spcAft>
            </a:pPr>
            <a:r>
              <a:rPr sz="1600" b="0">
                <a:solidFill>
                  <a:srgbClr val="6B7280"/>
                </a:solidFill>
              </a:rPr>
              <a:t>      –  uv run alina label --input-dir data/Raw_Data/vidd_2 --output-images-dir … --output-coords-dir …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</a:rPr>
              <a:t>•  </a:t>
            </a:r>
            <a:r>
              <a:rPr sz="1800" b="1">
                <a:solidFill>
                  <a:srgbClr val="222222"/>
                </a:solidFill>
              </a:rPr>
              <a:t>Evaluate</a:t>
            </a:r>
            <a:r>
              <a:rPr sz="1800" b="0">
                <a:solidFill>
                  <a:srgbClr val="222222"/>
                </a:solidFill>
              </a:rPr>
              <a:t> against CBEM:</a:t>
            </a:r>
          </a:p>
          <a:p>
            <a:pPr>
              <a:spcAft>
                <a:spcPts val="300"/>
              </a:spcAft>
            </a:pPr>
            <a:r>
              <a:rPr sz="1600" b="0">
                <a:solidFill>
                  <a:srgbClr val="6B7280"/>
                </a:solidFill>
              </a:rPr>
              <a:t>      –  uv run alina evaluate --canny-dirs data/gt_alina_labels/canny_textfiles/canny_textfiles_{1,2,3} --alina-dirs data/gt_alina_labels/ALINA_textfiles/ALINA_textfiles_{1,2,3}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</a:rPr>
              <a:t>•  </a:t>
            </a:r>
            <a:r>
              <a:rPr sz="1800" b="1">
                <a:solidFill>
                  <a:srgbClr val="222222"/>
                </a:solidFill>
              </a:rPr>
              <a:t>Helpers:</a:t>
            </a:r>
            <a:r>
              <a:rPr sz="1800" b="0">
                <a:solidFill>
                  <a:srgbClr val="222222"/>
                </a:solidFill>
              </a:rPr>
              <a:t> alina video-to-frames, rotate-frames, resize-images, cbem, superimpose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F2B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Strengths and limitations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</a:rPr>
              <a:t>ALINA explained   |   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234440"/>
            <a:ext cx="5486400" cy="5074920"/>
          </a:xfrm>
          <a:prstGeom prst="roundRect">
            <a:avLst>
              <a:gd name="adj" fmla="val 4000"/>
            </a:avLst>
          </a:prstGeom>
          <a:solidFill>
            <a:srgbClr val="F3F4F6"/>
          </a:solidFill>
          <a:ln>
            <a:solidFill>
              <a:srgbClr val="F2B11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25880"/>
            <a:ext cx="50292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14243B"/>
                </a:solidFill>
              </a:rPr>
              <a:t>Strengths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874519"/>
            <a:ext cx="5029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222222"/>
                </a:solidFill>
              </a:rPr>
              <a:t>•  Fast, CPU-only, no training data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22222"/>
                </a:solidFill>
              </a:rPr>
              <a:t>•  One ROI per video instead of one per scene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22222"/>
                </a:solidFill>
              </a:rPr>
              <a:t>•  Follows curves and dashes (CIRCLEDAT)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22222"/>
                </a:solidFill>
              </a:rPr>
              <a:t>•  Every step is inspectable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234440"/>
            <a:ext cx="5486400" cy="5074920"/>
          </a:xfrm>
          <a:prstGeom prst="roundRect">
            <a:avLst>
              <a:gd name="adj" fmla="val 4000"/>
            </a:avLst>
          </a:prstGeom>
          <a:solidFill>
            <a:srgbClr val="F3F4F6"/>
          </a:solidFill>
          <a:ln>
            <a:solidFill>
              <a:srgbClr val="F2B11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325880"/>
            <a:ext cx="50292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14243B"/>
                </a:solidFill>
              </a:rPr>
              <a:t>Limitations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1874519"/>
            <a:ext cx="5029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222222"/>
                </a:solidFill>
              </a:rPr>
              <a:t>•  ROI fixed per video: camera moves or sharp turns push the line out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22222"/>
                </a:solidFill>
              </a:rPr>
              <a:t>•  ROI size is fragile: 47/50 → 0/50 labeled frames (Q2)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22222"/>
                </a:solidFill>
              </a:rPr>
              <a:t>•  Hand-tuned HSV bounds; no white-paint rule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22222"/>
                </a:solidFill>
              </a:rPr>
              <a:t>•  Only one line traced per frame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22222"/>
                </a:solidFill>
              </a:rPr>
              <a:t>•  Lenient x/y-set metric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F2B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From ALINA to this assignment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</a:rPr>
              <a:t>ALINA explained   |   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0">
                <a:solidFill>
                  <a:srgbClr val="222222"/>
                </a:solidFill>
              </a:rPr>
              <a:t>•  ALINA's two manual inputs are exactly what this assignment automates:</a:t>
            </a:r>
          </a:p>
          <a:p>
            <a:pPr>
              <a:spcAft>
                <a:spcPts val="300"/>
              </a:spcAft>
            </a:pPr>
            <a:r>
              <a:rPr sz="1800" b="0">
                <a:solidFill>
                  <a:srgbClr val="6B7280"/>
                </a:solidFill>
              </a:rPr>
              <a:t>      –  </a:t>
            </a:r>
            <a:r>
              <a:rPr sz="1800" b="1">
                <a:solidFill>
                  <a:srgbClr val="6B7280"/>
                </a:solidFill>
              </a:rPr>
              <a:t>Q3:</a:t>
            </a:r>
            <a:r>
              <a:rPr sz="1800" b="0">
                <a:solidFill>
                  <a:srgbClr val="6B7280"/>
                </a:solidFill>
              </a:rPr>
              <a:t> ML chooses the ROI (Hough, K-means + RANSAC, GPT-5.5, Ridge)</a:t>
            </a:r>
          </a:p>
          <a:p>
            <a:pPr>
              <a:spcAft>
                <a:spcPts val="300"/>
              </a:spcAft>
            </a:pPr>
            <a:r>
              <a:rPr sz="1800" b="0">
                <a:solidFill>
                  <a:srgbClr val="6B7280"/>
                </a:solidFill>
              </a:rPr>
              <a:t>      –  </a:t>
            </a:r>
            <a:r>
              <a:rPr sz="1800" b="1">
                <a:solidFill>
                  <a:srgbClr val="6B7280"/>
                </a:solidFill>
              </a:rPr>
              <a:t>Q4:</a:t>
            </a:r>
            <a:r>
              <a:rPr sz="1800" b="0">
                <a:solidFill>
                  <a:srgbClr val="6B7280"/>
                </a:solidFill>
              </a:rPr>
              <a:t> ML learns the colour threshold (Otsu, GMM, decision tree, logistic regression, MLP)</a:t>
            </a:r>
          </a:p>
          <a:p>
            <a:pPr>
              <a:spcAft>
                <a:spcPts val="600"/>
              </a:spcAft>
            </a:pPr>
            <a:r>
              <a:rPr sz="2000" b="0">
                <a:solidFill>
                  <a:srgbClr val="222222"/>
                </a:solidFill>
              </a:rPr>
              <a:t>•  Headline: automatic ROI raised vidd_1 CBEM F1 from </a:t>
            </a:r>
            <a:r>
              <a:rPr sz="2000" b="1">
                <a:solidFill>
                  <a:srgbClr val="222222"/>
                </a:solidFill>
              </a:rPr>
              <a:t>23.8 to 70.0</a:t>
            </a:r>
            <a:r>
              <a:rPr sz="2000" b="0">
                <a:solidFill>
                  <a:srgbClr val="222222"/>
                </a:solidFill>
              </a:rPr>
              <a:t> and labeled the curved vidd_3 for the first time</a:t>
            </a:r>
          </a:p>
          <a:p>
            <a:pPr>
              <a:spcAft>
                <a:spcPts val="600"/>
              </a:spcAft>
            </a:pPr>
            <a:r>
              <a:rPr sz="2000" b="0">
                <a:solidFill>
                  <a:srgbClr val="222222"/>
                </a:solidFill>
              </a:rPr>
              <a:t>•  Details: the companion deck </a:t>
            </a:r>
            <a:r>
              <a:rPr sz="2000" b="1">
                <a:solidFill>
                  <a:srgbClr val="222222"/>
                </a:solidFill>
              </a:rPr>
              <a:t>Q3_Q4_Techniques_and_Results.pptx</a:t>
            </a:r>
            <a:r>
              <a:rPr sz="2000" b="0">
                <a:solidFill>
                  <a:srgbClr val="222222"/>
                </a:solidFill>
              </a:rPr>
              <a:t> and assignment/REPORT.md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F2B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</a:rPr>
              <a:t>ALINA explained   |   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</a:rPr>
              <a:t>•  Khan, Ganeriwala, Bhattacharyya, Neogi, Muthalagu. ALINA: Advanced Line Identification and Notation Algorithm. CVPR 2024 Workshops. arXiv:2406.08775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</a:rPr>
              <a:t>•  Project page: khanhafeez.github.io/alina-project-page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</a:rPr>
              <a:t>•  Original code: github.com/hafeezkhan909/ALINA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</a:rPr>
              <a:t>•  This fork with Assignment 4: https://github.com/hatemphd/ALINA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