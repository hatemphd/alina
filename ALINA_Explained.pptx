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82296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7373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ALINA
Advanced Line Identification and Notation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2B11B"/>
                </a:solidFill>
              </a:rPr>
              <a:t>How it labels taxiway centerlines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Khan, Ganeriwala, Bhattacharyya, Neogi, Muthalagu — CVPR 2024 Workshops (arXiv:2406.08775)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ALINA?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An </a:t>
            </a:r>
            <a:r>
              <a:rPr sz="1800" b="1">
                <a:solidFill>
                  <a:srgbClr val="222222"/>
                </a:solidFill>
              </a:rPr>
              <a:t>automatic labeling tool</a:t>
            </a:r>
            <a:r>
              <a:rPr sz="1800" b="0">
                <a:solidFill>
                  <a:srgbClr val="222222"/>
                </a:solidFill>
              </a:rPr>
              <a:t> for airport taxiway video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Finds the </a:t>
            </a:r>
            <a:r>
              <a:rPr sz="1800" b="1">
                <a:solidFill>
                  <a:srgbClr val="222222"/>
                </a:solidFill>
              </a:rPr>
              <a:t>yellow centerline</a:t>
            </a:r>
            <a:r>
              <a:rPr sz="1800" b="0">
                <a:solidFill>
                  <a:srgbClr val="222222"/>
                </a:solidFill>
              </a:rPr>
              <a:t> in each frame and records exactly which pixels belong to 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Not a neural network:</a:t>
            </a:r>
            <a:r>
              <a:rPr sz="1800" b="0">
                <a:solidFill>
                  <a:srgbClr val="222222"/>
                </a:solidFill>
              </a:rPr>
              <a:t> a classical computer-vision pipeline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Outputs per frame: an </a:t>
            </a:r>
            <a:r>
              <a:rPr sz="1800" b="1">
                <a:solidFill>
                  <a:srgbClr val="222222"/>
                </a:solidFill>
              </a:rPr>
              <a:t>annotated image</a:t>
            </a:r>
            <a:r>
              <a:rPr sz="1800" b="0">
                <a:solidFill>
                  <a:srgbClr val="222222"/>
                </a:solidFill>
              </a:rPr>
              <a:t> (line in red) and a </a:t>
            </a:r>
            <a:r>
              <a:rPr sz="1800" b="1">
                <a:solidFill>
                  <a:srgbClr val="222222"/>
                </a:solidFill>
              </a:rPr>
              <a:t>text file</a:t>
            </a:r>
            <a:r>
              <a:rPr sz="1800" b="0">
                <a:solidFill>
                  <a:srgbClr val="222222"/>
                </a:solidFill>
              </a:rPr>
              <a:t> of x y pixel coordinates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Purpose: produce the </a:t>
            </a:r>
            <a:r>
              <a:rPr sz="1800" b="1">
                <a:solidFill>
                  <a:srgbClr val="222222"/>
                </a:solidFill>
              </a:rPr>
              <a:t>ground truth</a:t>
            </a:r>
            <a:r>
              <a:rPr sz="1800" b="0">
                <a:solidFill>
                  <a:srgbClr val="222222"/>
                </a:solidFill>
              </a:rPr>
              <a:t> that supervised ML models (taxiway / lane detectors) need</a:t>
            </a:r>
          </a:p>
        </p:txBody>
      </p:sp>
      <p:pic>
        <p:nvPicPr>
          <p:cNvPr id="7" name="Picture 6" descr="0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48828"/>
            <a:ext cx="5394959" cy="303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129212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ALINA output on vidd_1: centerline in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How ALINA addresses it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Manual labeling is slow, expensive and error-prone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Labels automatically at ≈ 19.65 fps (50 ms per frame on a CPU)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≈ 33% of aircraft accidents (2015–2022) happened during taxiing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Creates training data for pilot-assist and autonomous taxi guidance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Previous method (CDLEM) needed a new ROI at every scenario change: 120 ROIs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One ROI per video: 3 ROIs for the same 60,249 frames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CDLEM: 91.14% detection at 120 ms per frame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ALINA: </a:t>
                      </a:r>
                      <a:r>
                        <a:rPr sz="1500" b="1">
                          <a:solidFill>
                            <a:srgbClr val="222222"/>
                          </a:solidFill>
                        </a:rPr>
                        <a:t>98.45%</a:t>
                      </a:r>
                      <a:r>
                        <a:rPr sz="1500" b="0">
                          <a:solidFill>
                            <a:srgbClr val="222222"/>
                          </a:solidFill>
                        </a:rPr>
                        <a:t> detection at 50 ms per frame (≈ 2.4× faster)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832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Scale: </a:t>
            </a:r>
            <a:r>
              <a:rPr sz="1600" b="1">
                <a:solidFill>
                  <a:srgbClr val="222222"/>
                </a:solidFill>
              </a:rPr>
              <a:t>60,249 frames</a:t>
            </a:r>
            <a:r>
              <a:rPr sz="1600" b="0">
                <a:solidFill>
                  <a:srgbClr val="222222"/>
                </a:solidFill>
              </a:rPr>
              <a:t> from 3 videos of the AssistTaxi dataset (Melbourne MLB and Grant-Valkaria X59 airports), sunny and cloudy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4</a:t>
            </a:r>
          </a:p>
        </p:txBody>
      </p:sp>
      <p:pic>
        <p:nvPicPr>
          <p:cNvPr id="6" name="Picture 5" descr="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80" y="1188720"/>
            <a:ext cx="793640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Method overview (from the paper)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overview: six steps per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1. ROI:</a:t>
            </a:r>
            <a:r>
              <a:rPr sz="2000" b="0">
                <a:solidFill>
                  <a:srgbClr val="222222"/>
                </a:solidFill>
              </a:rPr>
              <a:t> a trapezoid in front of the aircraft nose, clicked once on the first frame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2. Bird's-eye warp:</a:t>
            </a:r>
            <a:r>
              <a:rPr sz="2000" b="0">
                <a:solidFill>
                  <a:srgbClr val="222222"/>
                </a:solidFill>
              </a:rPr>
              <a:t> a homography stretches the trapezoid to a top-down rectangle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3. Colour:</a:t>
            </a:r>
            <a:r>
              <a:rPr sz="2000" b="0">
                <a:solidFill>
                  <a:srgbClr val="222222"/>
                </a:solidFill>
              </a:rPr>
              <a:t> HSV conversion, min-max normalisation, threshold → binary mask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4. Column histogram:</a:t>
            </a:r>
            <a:r>
              <a:rPr sz="2000" b="0">
                <a:solidFill>
                  <a:srgbClr val="222222"/>
                </a:solidFill>
              </a:rPr>
              <a:t> count mask pixels per column; the peak column is the line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5. CIRCLEDAT:</a:t>
            </a:r>
            <a:r>
              <a:rPr sz="2000" b="0">
                <a:solidFill>
                  <a:srgbClr val="222222"/>
                </a:solidFill>
              </a:rPr>
              <a:t> traverse all mask pixels connected to that peak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6. Unwarp:</a:t>
            </a:r>
            <a:r>
              <a:rPr sz="2000" b="0">
                <a:solidFill>
                  <a:srgbClr val="222222"/>
                </a:solidFill>
              </a:rPr>
              <a:t> map the pixels back to the camera view; draw them in red and save x y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Each step </a:t>
            </a:r>
            <a:r>
              <a:rPr sz="2000" b="1">
                <a:solidFill>
                  <a:srgbClr val="222222"/>
                </a:solidFill>
              </a:rPr>
              <a:t>shrinks the problem</a:t>
            </a:r>
            <a:r>
              <a:rPr sz="2000" b="0">
                <a:solidFill>
                  <a:srgbClr val="222222"/>
                </a:solidFill>
              </a:rPr>
              <a:t> or removes one source of error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1–2: ROI and bird's-eye warp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 centerline always appears in roughly the same area in front of the nose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 user clicks </a:t>
            </a:r>
            <a:r>
              <a:rPr sz="1700" b="1">
                <a:solidFill>
                  <a:srgbClr val="222222"/>
                </a:solidFill>
              </a:rPr>
              <a:t>4 points once</a:t>
            </a:r>
            <a:r>
              <a:rPr sz="1700" b="0">
                <a:solidFill>
                  <a:srgbClr val="222222"/>
                </a:solidFill>
              </a:rPr>
              <a:t> per video; reused for all frames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A </a:t>
            </a:r>
            <a:r>
              <a:rPr sz="1700" b="1">
                <a:solidFill>
                  <a:srgbClr val="222222"/>
                </a:solidFill>
              </a:rPr>
              <a:t>homography</a:t>
            </a:r>
            <a:r>
              <a:rPr sz="1700" b="0">
                <a:solidFill>
                  <a:srgbClr val="222222"/>
                </a:solidFill>
              </a:rPr>
              <a:t> (3×3 matrix from 4 source + 4 destination points) warps the trapezoid to the rectangle (50, 100)–(1200, 800)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In the bird's-eye view the line is a </a:t>
            </a:r>
            <a:r>
              <a:rPr sz="1700" b="1">
                <a:solidFill>
                  <a:srgbClr val="222222"/>
                </a:solidFill>
              </a:rPr>
              <a:t>roughly vertical stripe</a:t>
            </a:r>
            <a:r>
              <a:rPr sz="1700" b="0">
                <a:solidFill>
                  <a:srgbClr val="222222"/>
                </a:solidFill>
              </a:rPr>
              <a:t> of constant width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Excludes sky, grass and parked aircraft; cuts computation</a:t>
            </a:r>
          </a:p>
        </p:txBody>
      </p:sp>
      <p:pic>
        <p:nvPicPr>
          <p:cNvPr id="7" name="Picture 6" descr="birds_ey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4216"/>
            <a:ext cx="5394959" cy="3283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253824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Bird's-eye view of a medium ROI on vidd_2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3: colour normalisation and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Convert BGR → </a:t>
            </a:r>
            <a:r>
              <a:rPr sz="1700" b="1">
                <a:solidFill>
                  <a:srgbClr val="222222"/>
                </a:solidFill>
              </a:rPr>
              <a:t>HSV</a:t>
            </a:r>
            <a:r>
              <a:rPr sz="1700" b="0">
                <a:solidFill>
                  <a:srgbClr val="222222"/>
                </a:solidFill>
              </a:rPr>
              <a:t>: hue (which colour), saturation (how vivid), value (how bright)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Min-max normalise</a:t>
            </a:r>
            <a:r>
              <a:rPr sz="1700" b="0">
                <a:solidFill>
                  <a:srgbClr val="222222"/>
                </a:solidFill>
              </a:rPr>
              <a:t> each channel to 0–255 so sunny and cloudy frames are comparable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Keep pixels in </a:t>
            </a:r>
            <a:r>
              <a:rPr sz="1700" b="1">
                <a:solidFill>
                  <a:srgbClr val="222222"/>
                </a:solidFill>
              </a:rPr>
              <a:t>(0, 70, 170)–(255, 255, 255)</a:t>
            </a:r>
            <a:r>
              <a:rPr sz="1700" b="0">
                <a:solidFill>
                  <a:srgbClr val="222222"/>
                </a:solidFill>
              </a:rPr>
              <a:t>: vivid and bright → white (255), else black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Bounds chosen from histograms of real line pixels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Why HSV: lighting changes mostly move V, so the paint signature is steadier than in RGB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There is </a:t>
            </a:r>
            <a:r>
              <a:rPr sz="1700" b="1">
                <a:solidFill>
                  <a:srgbClr val="222222"/>
                </a:solidFill>
              </a:rPr>
              <a:t>no rule for white</a:t>
            </a:r>
            <a:r>
              <a:rPr sz="1700" b="0">
                <a:solidFill>
                  <a:srgbClr val="222222"/>
                </a:solidFill>
              </a:rPr>
              <a:t> paint</a:t>
            </a:r>
          </a:p>
        </p:txBody>
      </p:sp>
      <p:pic>
        <p:nvPicPr>
          <p:cNvPr id="7" name="Picture 6" descr="m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4216"/>
            <a:ext cx="5394959" cy="3283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253824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Binary mask after thresholding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4: column histogram — is there a line, and where?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For every column of the mask, </a:t>
            </a:r>
            <a:r>
              <a:rPr sz="2000" b="1">
                <a:solidFill>
                  <a:srgbClr val="222222"/>
                </a:solidFill>
              </a:rPr>
              <a:t>count the white pixels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A real line in the bird's-eye view is a tall column → a clear </a:t>
            </a:r>
            <a:r>
              <a:rPr sz="2000" b="1">
                <a:solidFill>
                  <a:srgbClr val="222222"/>
                </a:solidFill>
              </a:rPr>
              <a:t>peak</a:t>
            </a:r>
            <a:r>
              <a:rPr sz="2000" b="0">
                <a:solidFill>
                  <a:srgbClr val="222222"/>
                </a:solidFill>
              </a:rPr>
              <a:t>; noise makes only small bumps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Line accepted if the peak column has </a:t>
            </a:r>
            <a:r>
              <a:rPr sz="2000" b="1">
                <a:solidFill>
                  <a:srgbClr val="222222"/>
                </a:solidFill>
              </a:rPr>
              <a:t>&gt; 200 white pixels</a:t>
            </a:r>
            <a:r>
              <a:rPr sz="2000" b="0">
                <a:solidFill>
                  <a:srgbClr val="222222"/>
                </a:solidFill>
              </a:rPr>
              <a:t> (min_white_pixels) and the peak exceeds </a:t>
            </a:r>
            <a:r>
              <a:rPr sz="2000" b="1">
                <a:solidFill>
                  <a:srgbClr val="222222"/>
                </a:solidFill>
              </a:rPr>
              <a:t>peak_pixel_threshold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The paper's ablation chose a peak threshold of 150 (0% false positives); the code default is 50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Start point for the next step: the peak column at the </a:t>
            </a:r>
            <a:r>
              <a:rPr sz="2000" b="1">
                <a:solidFill>
                  <a:srgbClr val="222222"/>
                </a:solidFill>
              </a:rPr>
              <a:t>mean row</a:t>
            </a:r>
            <a:r>
              <a:rPr sz="2000" b="0">
                <a:solidFill>
                  <a:srgbClr val="222222"/>
                </a:solidFill>
              </a:rPr>
              <a:t> of its white pixels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If no peak passes, the frame is saved with an </a:t>
            </a:r>
            <a:r>
              <a:rPr sz="2000" b="1">
                <a:solidFill>
                  <a:srgbClr val="222222"/>
                </a:solidFill>
              </a:rPr>
              <a:t>empty</a:t>
            </a:r>
            <a:r>
              <a:rPr sz="2000" b="0">
                <a:solidFill>
                  <a:srgbClr val="222222"/>
                </a:solidFill>
              </a:rPr>
              <a:t> label file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Columns 0–300 of the mask are zeroed first (mask_ignore_left_columns)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5: CIRCLEDAT — collect the whole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Circular Threshold Pixel Discovery and Traversal</a:t>
            </a:r>
            <a:r>
              <a:rPr sz="2000" b="0">
                <a:solidFill>
                  <a:srgbClr val="222222"/>
                </a:solidFill>
              </a:rPr>
              <a:t>, a new algorithm in the paper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Depth-first search from the start pixel: from each white pixel, look at every pixel within </a:t>
            </a:r>
            <a:r>
              <a:rPr sz="2000" b="1">
                <a:solidFill>
                  <a:srgbClr val="222222"/>
                </a:solidFill>
              </a:rPr>
              <a:t>±15 px</a:t>
            </a:r>
            <a:r>
              <a:rPr sz="2000" b="0">
                <a:solidFill>
                  <a:srgbClr val="222222"/>
                </a:solidFill>
              </a:rPr>
              <a:t> (circular_threshold)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Jumps small gaps, so it follows </a:t>
            </a:r>
            <a:r>
              <a:rPr sz="2000" b="1">
                <a:solidFill>
                  <a:srgbClr val="222222"/>
                </a:solidFill>
              </a:rPr>
              <a:t>curves and dashed lines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Collects only pixels </a:t>
            </a:r>
            <a:r>
              <a:rPr sz="2000" b="1">
                <a:solidFill>
                  <a:srgbClr val="222222"/>
                </a:solidFill>
              </a:rPr>
              <a:t>connected</a:t>
            </a:r>
            <a:r>
              <a:rPr sz="2000" b="0">
                <a:solidFill>
                  <a:srgbClr val="222222"/>
                </a:solidFill>
              </a:rPr>
              <a:t> to the line → unconnected noise is left out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Cost </a:t>
            </a:r>
            <a:r>
              <a:rPr sz="2000" b="1">
                <a:solidFill>
                  <a:srgbClr val="222222"/>
                </a:solidFill>
              </a:rPr>
              <a:t>O(k)</a:t>
            </a:r>
            <a:r>
              <a:rPr sz="2000" b="0">
                <a:solidFill>
                  <a:srgbClr val="222222"/>
                </a:solidFill>
              </a:rPr>
              <a:t> in the number of line pixels vs O(m×n) for a sliding window (paper: 3.33 ms vs 10.90 ms)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Side effect:</a:t>
            </a:r>
            <a:r>
              <a:rPr sz="2000" b="0">
                <a:solidFill>
                  <a:srgbClr val="222222"/>
                </a:solidFill>
              </a:rPr>
              <a:t> anything touching the line (e.g. a bright aircraft nose in the mask) is pulled in too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 6: unwarp and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Unwarp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The inverse homography M⁻¹ projects the collected pixels back to the camera view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Pixels are painted red on the original frame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Only the </a:t>
            </a:r>
            <a:r>
              <a:rPr sz="1600" b="1">
                <a:solidFill>
                  <a:srgbClr val="222222"/>
                </a:solidFill>
              </a:rPr>
              <a:t>single strongest</a:t>
            </a:r>
            <a:r>
              <a:rPr sz="1600" b="0">
                <a:solidFill>
                  <a:srgbClr val="222222"/>
                </a:solidFill>
              </a:rPr>
              <a:t> line is traced per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Outputs per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annotations/&lt;frame&gt;.jpg — red overlay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textfiles/&lt;frame&gt;.txt — one 'x y' per line pixel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Empty text file when no line was found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timing log: labeled / no lines found, ms per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Input and output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Input:</a:t>
            </a:r>
            <a:r>
              <a:rPr sz="1700" b="0">
                <a:solidFill>
                  <a:srgbClr val="222222"/>
                </a:solidFill>
              </a:rPr>
              <a:t> a folder of JPG frames per video + 4 ROI clicks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</a:rPr>
              <a:t>      –  vidd_1 is 4K (resized to 1080p in this project); vidd_2 and vidd_3 are 1080p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Output:</a:t>
            </a:r>
            <a:r>
              <a:rPr sz="1700" b="0">
                <a:solidFill>
                  <a:srgbClr val="222222"/>
                </a:solidFill>
              </a:rPr>
              <a:t> the same frame with the centerline in red, plus its coordinates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50 sample frames per video ship with the repo (data/Raw_Data, data/Labeled_Data)</a:t>
            </a:r>
          </a:p>
        </p:txBody>
      </p:sp>
      <p:pic>
        <p:nvPicPr>
          <p:cNvPr id="7" name="Picture 6" descr="0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48828"/>
            <a:ext cx="5394959" cy="303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129212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vidd_2 frame labeled by ALINA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data in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4686300"/>
                <a:gridCol w="28117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Folder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data/Raw_Data/vidd_1..3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50 raw frames per video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Input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data/Labeled_Data/vidd_1..3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annotations/ (red overlays), textfiles/ (x y)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Authors' sample output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data/gt_alina_labels/canny_images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CBEM edge-map images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Visual reference for ground truth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data/gt_alina_labels/canny_textfiles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CBEM ground-truth coordinates (120 frames)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Evaluation truth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data/gt_alina_labels/ALINA_textfiles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ALINA output on the same 120 frames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What gets evaluated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67328"/>
            <a:ext cx="11064240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Only </a:t>
            </a:r>
            <a:r>
              <a:rPr sz="1600" b="1">
                <a:solidFill>
                  <a:srgbClr val="222222"/>
                </a:solidFill>
              </a:rPr>
              <a:t>17</a:t>
            </a:r>
            <a:r>
              <a:rPr sz="1600" b="0">
                <a:solidFill>
                  <a:srgbClr val="222222"/>
                </a:solidFill>
              </a:rPr>
              <a:t> of the 120 ground-truth frames have their raw image in the repo (vidd_1: 7, vidd_2: 10, vidd_3: 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Ground truth: CBEM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</a:t>
            </a:r>
            <a:r>
              <a:rPr sz="1700" b="1">
                <a:solidFill>
                  <a:srgbClr val="222222"/>
                </a:solidFill>
              </a:rPr>
              <a:t>Canny-Based Edge Marking:</a:t>
            </a:r>
            <a:r>
              <a:rPr sz="1700" b="0">
                <a:solidFill>
                  <a:srgbClr val="222222"/>
                </a:solidFill>
              </a:rPr>
              <a:t> how the authors made ground truth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120 frames picked at </a:t>
            </a:r>
            <a:r>
              <a:rPr sz="1700" b="1">
                <a:solidFill>
                  <a:srgbClr val="222222"/>
                </a:solidFill>
              </a:rPr>
              <a:t>scenario changes</a:t>
            </a:r>
            <a:r>
              <a:rPr sz="1700" b="0">
                <a:solidFill>
                  <a:srgbClr val="222222"/>
                </a:solidFill>
              </a:rPr>
              <a:t> (not at random), 40 per video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A person outlines the marking; </a:t>
            </a:r>
            <a:r>
              <a:rPr sz="1700" b="1">
                <a:solidFill>
                  <a:srgbClr val="222222"/>
                </a:solidFill>
              </a:rPr>
              <a:t>Canny edge detection</a:t>
            </a:r>
            <a:r>
              <a:rPr sz="1700" b="0">
                <a:solidFill>
                  <a:srgbClr val="222222"/>
                </a:solidFill>
              </a:rPr>
              <a:t> inside the outline gives the edge pixels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So the truth marks the </a:t>
            </a:r>
            <a:r>
              <a:rPr sz="1700" b="1">
                <a:solidFill>
                  <a:srgbClr val="222222"/>
                </a:solidFill>
              </a:rPr>
              <a:t>edges</a:t>
            </a:r>
            <a:r>
              <a:rPr sz="1700" b="0">
                <a:solidFill>
                  <a:srgbClr val="222222"/>
                </a:solidFill>
              </a:rPr>
              <a:t> of the paint, not the filled paint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</a:rPr>
              <a:t>•  Dataset quirk: several CBEM files are byte-identical duplicates</a:t>
            </a:r>
          </a:p>
        </p:txBody>
      </p:sp>
      <p:pic>
        <p:nvPicPr>
          <p:cNvPr id="7" name="Picture 6" descr="00002_cann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48828"/>
            <a:ext cx="5394959" cy="30346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5129212"/>
            <a:ext cx="53949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CBEM edge image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ALINA is evaluated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984"/>
                <a:gridCol w="3374136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 on the 120 validation frames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Recall (detection rate) — paper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98.45%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Recall / precision / F1 — reproduced with alina evaluate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98.44% / 92.29% / </a:t>
                      </a:r>
                      <a:r>
                        <a:rPr sz="1500" b="1">
                          <a:solidFill>
                            <a:srgbClr val="222222"/>
                          </a:solidFill>
                        </a:rPr>
                        <a:t>95.17%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Same frames, exact pixel match F1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28.8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Same frames, pixel match within 3 px 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87.4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8328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ALINA compares the </a:t>
            </a:r>
            <a:r>
              <a:rPr sz="1600" b="1">
                <a:solidFill>
                  <a:srgbClr val="222222"/>
                </a:solidFill>
              </a:rPr>
              <a:t>set of x values</a:t>
            </a:r>
            <a:r>
              <a:rPr sz="1600" b="0">
                <a:solidFill>
                  <a:srgbClr val="222222"/>
                </a:solidFill>
              </a:rPr>
              <a:t> and the </a:t>
            </a:r>
            <a:r>
              <a:rPr sz="1600" b="1">
                <a:solidFill>
                  <a:srgbClr val="222222"/>
                </a:solidFill>
              </a:rPr>
              <a:t>set of y values</a:t>
            </a:r>
            <a:r>
              <a:rPr sz="1600" b="0">
                <a:solidFill>
                  <a:srgbClr val="222222"/>
                </a:solidFill>
              </a:rPr>
              <a:t> separately, then averages: a predicted x counts if any true pixel has 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Per frame, then averaged over frames; frames without an output file are skipped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The authors prioritise </a:t>
            </a:r>
            <a:r>
              <a:rPr sz="1600" b="1">
                <a:solidFill>
                  <a:srgbClr val="222222"/>
                </a:solidFill>
              </a:rPr>
              <a:t>recall</a:t>
            </a:r>
            <a:r>
              <a:rPr sz="1600" b="0">
                <a:solidFill>
                  <a:srgbClr val="222222"/>
                </a:solidFill>
              </a:rPr>
              <a:t>: for taxiway safety a missed marking is worse than an extra pixel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parameters (alina/config.py)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0410"/>
                <a:gridCol w="3280410"/>
                <a:gridCol w="468630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Default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yellow_lower / yellow_upper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(0, 70, 170) / (255, 255, 255)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Normalised HSV paint range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min_white_pixels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White pixels needed in the peak column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peak_pixel_threshold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Minimum histogram peak (paper ablation: 150)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circular_threshold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CIRCLEDAT search radius (px)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mask_ignore_left_columns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300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Mask columns zeroed before the histogram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ROI destination rectangle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(50, 100)–(1200, 800)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</a:rPr>
                        <a:t>Bird's-eye target of the homography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the time goes (paper, ms per frame)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Time (ms)</a:t>
                      </a:r>
                    </a:p>
                  </a:txBody>
                  <a:tcPr marL="54864" marR="54864" marT="27432" marB="27432">
                    <a:solidFill>
                      <a:srgbClr val="14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Perspective warp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4.41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HSV normalisation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5.91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Thresholding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1.05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222"/>
                          </a:solidFill>
                        </a:rPr>
                        <a:t>Histogram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222"/>
                          </a:solidFill>
                        </a:rPr>
                        <a:t>28.71</a:t>
                      </a:r>
                      <a:r>
                        <a:rPr sz="1500" b="0">
                          <a:solidFill>
                            <a:srgbClr val="222222"/>
                          </a:solidFill>
                        </a:rPr>
                        <a:t> (bottleneck)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CIRCLEDAT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3.33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Remap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</a:rPr>
                        <a:t>6.68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222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22222"/>
                          </a:solidFill>
                        </a:rPr>
                        <a:t>50.09</a:t>
                      </a:r>
                      <a:r>
                        <a:rPr sz="1500" b="0">
                          <a:solidFill>
                            <a:srgbClr val="222222"/>
                          </a:solidFill>
                        </a:rPr>
                        <a:t> (≈ 19.65 fps)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35424"/>
            <a:ext cx="1106424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In this project's Python version, CIRCLEDAT was far slower (1–37 s per frame) because its cost grows with the connected mask area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Running ALINA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Environment: uv sync  (Python 3.12, OpenCV, NumPy — pinned in uv.lock)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Label a folder of frames</a:t>
            </a:r>
            <a:r>
              <a:rPr sz="1800" b="0">
                <a:solidFill>
                  <a:srgbClr val="222222"/>
                </a:solidFill>
              </a:rPr>
              <a:t> (opens a window to click the ROI):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6B7280"/>
                </a:solidFill>
              </a:rPr>
              <a:t>      –  uv run alina label --input-dir data/Raw_Data/vidd_2 --output-images-dir … --output-coords-dir …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Evaluate</a:t>
            </a:r>
            <a:r>
              <a:rPr sz="1800" b="0">
                <a:solidFill>
                  <a:srgbClr val="222222"/>
                </a:solidFill>
              </a:rPr>
              <a:t> against CBEM: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6B7280"/>
                </a:solidFill>
              </a:rPr>
              <a:t>      –  uv run alina evaluate --canny-dirs data/gt_alina_labels/canny_textfiles/canny_textfiles_{1,2,3} --alina-dirs data/gt_alina_labels/ALINA_textfiles/ALINA_textfiles_{1,2,3}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</a:t>
            </a:r>
            <a:r>
              <a:rPr sz="1800" b="1">
                <a:solidFill>
                  <a:srgbClr val="222222"/>
                </a:solidFill>
              </a:rPr>
              <a:t>Helpers:</a:t>
            </a:r>
            <a:r>
              <a:rPr sz="1800" b="0">
                <a:solidFill>
                  <a:srgbClr val="222222"/>
                </a:solidFill>
              </a:rPr>
              <a:t> alina video-to-frames, rotate-frames, resize-images, cbem, superimpose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Strengths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Fast, CPU-only, no training data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One ROI per video instead of one per scene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Follows curves and dashes (CIRCLEDAT)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Every step is inspectable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solidFill>
              <a:srgbClr val="F2B1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43B"/>
                </a:solidFill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ROI fixed per video: camera moves or sharp turns push the line out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ROI size is fragile: 47/50 → 0/50 labeled frames (Q2)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Hand-tuned HSV bounds; no white-paint rule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Only one line traced per frame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</a:rPr>
              <a:t>•  Lenient x/y-set metric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From ALINA to this 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ALINA's two manual inputs are exactly what this assignment automates: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</a:t>
            </a:r>
            <a:r>
              <a:rPr sz="1800" b="1">
                <a:solidFill>
                  <a:srgbClr val="6B7280"/>
                </a:solidFill>
              </a:rPr>
              <a:t>Q3:</a:t>
            </a:r>
            <a:r>
              <a:rPr sz="1800" b="0">
                <a:solidFill>
                  <a:srgbClr val="6B7280"/>
                </a:solidFill>
              </a:rPr>
              <a:t> ML chooses the ROI (Hough, K-means + RANSAC, GPT-5.5, Ridge)</a:t>
            </a:r>
          </a:p>
          <a:p>
            <a:pPr>
              <a:spcAft>
                <a:spcPts val="300"/>
              </a:spcAft>
            </a:pPr>
            <a:r>
              <a:rPr sz="1800" b="0">
                <a:solidFill>
                  <a:srgbClr val="6B7280"/>
                </a:solidFill>
              </a:rPr>
              <a:t>      –  </a:t>
            </a:r>
            <a:r>
              <a:rPr sz="1800" b="1">
                <a:solidFill>
                  <a:srgbClr val="6B7280"/>
                </a:solidFill>
              </a:rPr>
              <a:t>Q4:</a:t>
            </a:r>
            <a:r>
              <a:rPr sz="1800" b="0">
                <a:solidFill>
                  <a:srgbClr val="6B7280"/>
                </a:solidFill>
              </a:rPr>
              <a:t> ML learns the colour threshold (Otsu, GMM, decision tree, logistic regression, MLP)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Headline: automatic ROI raised vidd_1 CBEM F1 from </a:t>
            </a:r>
            <a:r>
              <a:rPr sz="2000" b="1">
                <a:solidFill>
                  <a:srgbClr val="222222"/>
                </a:solidFill>
              </a:rPr>
              <a:t>23.8 to 70.0</a:t>
            </a:r>
            <a:r>
              <a:rPr sz="2000" b="0">
                <a:solidFill>
                  <a:srgbClr val="222222"/>
                </a:solidFill>
              </a:rPr>
              <a:t> and labeled the curved vidd_3 for the first time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222222"/>
                </a:solidFill>
              </a:rPr>
              <a:t>•  Details: the companion deck </a:t>
            </a:r>
            <a:r>
              <a:rPr sz="2000" b="1">
                <a:solidFill>
                  <a:srgbClr val="222222"/>
                </a:solidFill>
              </a:rPr>
              <a:t>Q3_Q4_Techniques_and_Results.pptx</a:t>
            </a:r>
            <a:r>
              <a:rPr sz="2000" b="0">
                <a:solidFill>
                  <a:srgbClr val="222222"/>
                </a:solidFill>
              </a:rPr>
              <a:t> and assignment/REPORT.md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2B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</a:rPr>
              <a:t>ALINA explained   |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Khan, Ganeriwala, Bhattacharyya, Neogi, Muthalagu. ALINA: Advanced Line Identification and Notation Algorithm. CVPR 2024 Workshops. arXiv:2406.08775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Project page: khanhafeez.github.io/alina-project-page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Original code: github.com/hafeezkhan909/ALINA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</a:rPr>
              <a:t>•  This fork with Assignment 4: https://github.com/hatemphd/ALINA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